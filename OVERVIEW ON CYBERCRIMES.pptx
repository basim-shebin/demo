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61" r:id="rId4"/>
    <p:sldId id="258" r:id="rId5"/>
    <p:sldId id="259" r:id="rId6"/>
    <p:sldId id="265" r:id="rId7"/>
    <p:sldId id="260" r:id="rId8"/>
    <p:sldId id="266" r:id="rId9"/>
    <p:sldId id="267" r:id="rId10"/>
    <p:sldId id="268" r:id="rId11"/>
    <p:sldId id="262" r:id="rId12"/>
    <p:sldId id="263" r:id="rId13"/>
    <p:sldId id="264" r:id="rId14"/>
    <p:sldId id="269" r:id="rId15"/>
  </p:sldIdLst>
  <p:sldSz cx="14630400" cy="8229600"/>
  <p:notesSz cx="8229600" cy="14630400"/>
  <p:embeddedFontLst>
    <p:embeddedFont>
      <p:font typeface="Roboto Slab" panose="020B0604020202020204" charset="0"/>
      <p:regular r:id="rId17"/>
    </p:embeddedFont>
    <p:embeddedFont>
      <p:font typeface="Roboto" panose="020B0604020202020204" charset="0"/>
      <p:regular r:id="rId18"/>
    </p:embeddedFont>
    <p:embeddedFont>
      <p:font typeface="Calibri" panose="020F050202020403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7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48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diagrams/_rels/data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image" Target="../media/image16.jpg"/></Relationships>
</file>

<file path=ppt/diagrams/_rels/drawing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image" Target="../media/image16.jp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D911B-FACD-4F91-8BD7-1967ABB16B78}"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C88BB65B-E19D-41E2-A481-65151C199FB0}">
      <dgm:prSet/>
      <dgm:spPr/>
      <dgm:t>
        <a:bodyPr/>
        <a:lstStyle/>
        <a:p>
          <a:pPr rtl="0"/>
          <a:r>
            <a:rPr lang="en-US" b="1" dirty="0" smtClean="0"/>
            <a:t>Malicious Web Links: </a:t>
          </a:r>
          <a:r>
            <a:rPr lang="en-US" dirty="0" smtClean="0"/>
            <a:t>Phishing links that take users to websites infected with malware.</a:t>
          </a:r>
          <a:endParaRPr lang="en-GB" dirty="0"/>
        </a:p>
      </dgm:t>
    </dgm:pt>
    <dgm:pt modelId="{3631ED09-5E3E-4E5E-9996-636A109CABB6}" type="parTrans" cxnId="{E9E27B1B-847D-41E7-8E04-71071C9B8EF1}">
      <dgm:prSet/>
      <dgm:spPr/>
      <dgm:t>
        <a:bodyPr/>
        <a:lstStyle/>
        <a:p>
          <a:endParaRPr lang="en-US"/>
        </a:p>
      </dgm:t>
    </dgm:pt>
    <dgm:pt modelId="{9BC9DAB9-89C9-434C-8247-C2B03F51AD8B}" type="sibTrans" cxnId="{E9E27B1B-847D-41E7-8E04-71071C9B8EF1}">
      <dgm:prSet/>
      <dgm:spPr/>
      <dgm:t>
        <a:bodyPr/>
        <a:lstStyle/>
        <a:p>
          <a:endParaRPr lang="en-US"/>
        </a:p>
      </dgm:t>
    </dgm:pt>
    <dgm:pt modelId="{ADDE5A8A-1F27-4F5A-B612-8299FBBAC834}">
      <dgm:prSet/>
      <dgm:spPr/>
      <dgm:t>
        <a:bodyPr/>
        <a:lstStyle/>
        <a:p>
          <a:pPr rtl="0"/>
          <a:r>
            <a:rPr lang="en-US" b="1" dirty="0" smtClean="0"/>
            <a:t>Malicious Attachments: </a:t>
          </a:r>
          <a:r>
            <a:rPr lang="en-US" dirty="0" smtClean="0"/>
            <a:t>Infected attachments that can compromise computers.</a:t>
          </a:r>
          <a:endParaRPr lang="en-GB" dirty="0"/>
        </a:p>
      </dgm:t>
    </dgm:pt>
    <dgm:pt modelId="{EB5D926F-AA10-420B-B66F-B114894BD244}" type="parTrans" cxnId="{71638025-AE65-4400-B55D-ACD917D73ED5}">
      <dgm:prSet/>
      <dgm:spPr/>
      <dgm:t>
        <a:bodyPr/>
        <a:lstStyle/>
        <a:p>
          <a:endParaRPr lang="en-US"/>
        </a:p>
      </dgm:t>
    </dgm:pt>
    <dgm:pt modelId="{0F53F9D4-E859-4BC5-8D85-279D23AE46F5}" type="sibTrans" cxnId="{71638025-AE65-4400-B55D-ACD917D73ED5}">
      <dgm:prSet/>
      <dgm:spPr/>
      <dgm:t>
        <a:bodyPr/>
        <a:lstStyle/>
        <a:p>
          <a:endParaRPr lang="en-US"/>
        </a:p>
      </dgm:t>
    </dgm:pt>
    <dgm:pt modelId="{20F8E510-9E6A-42F1-B0A8-7E47BC5FB578}">
      <dgm:prSet/>
      <dgm:spPr/>
      <dgm:t>
        <a:bodyPr/>
        <a:lstStyle/>
        <a:p>
          <a:pPr rtl="0"/>
          <a:r>
            <a:rPr lang="en-US" b="1" dirty="0" smtClean="0"/>
            <a:t>Fraudulent Data-Entry Forms: </a:t>
          </a:r>
          <a:r>
            <a:rPr lang="en-US" dirty="0" smtClean="0"/>
            <a:t>Fake forms that trick victims into revealing sensitive information.</a:t>
          </a:r>
          <a:endParaRPr lang="en-GB" dirty="0"/>
        </a:p>
      </dgm:t>
    </dgm:pt>
    <dgm:pt modelId="{A8040B60-47BC-4B67-94B4-DCE4193F8EA5}" type="parTrans" cxnId="{631FA797-F151-4AF3-893D-AFEC9173A919}">
      <dgm:prSet/>
      <dgm:spPr/>
      <dgm:t>
        <a:bodyPr/>
        <a:lstStyle/>
        <a:p>
          <a:endParaRPr lang="en-US"/>
        </a:p>
      </dgm:t>
    </dgm:pt>
    <dgm:pt modelId="{E3FB31F7-E6DD-41CC-8D47-772A3E844739}" type="sibTrans" cxnId="{631FA797-F151-4AF3-893D-AFEC9173A919}">
      <dgm:prSet/>
      <dgm:spPr/>
      <dgm:t>
        <a:bodyPr/>
        <a:lstStyle/>
        <a:p>
          <a:endParaRPr lang="en-US"/>
        </a:p>
      </dgm:t>
    </dgm:pt>
    <dgm:pt modelId="{072D78E5-DCEF-4153-9075-206FCD633502}">
      <dgm:prSet/>
      <dgm:spPr/>
      <dgm:t>
        <a:bodyPr/>
        <a:lstStyle/>
        <a:p>
          <a:pPr rtl="0"/>
          <a:r>
            <a:rPr lang="en-US" b="1" dirty="0" smtClean="0"/>
            <a:t>Link Manipulation: </a:t>
          </a:r>
          <a:r>
            <a:rPr lang="en-US" dirty="0" smtClean="0"/>
            <a:t>Disguising malicious links as trusted links.</a:t>
          </a:r>
          <a:endParaRPr lang="en-GB" dirty="0"/>
        </a:p>
      </dgm:t>
    </dgm:pt>
    <dgm:pt modelId="{608D95A9-5375-47F3-A6AC-75463C058E34}" type="parTrans" cxnId="{8AFDD70B-DBE2-4604-9605-DFC8E0ABD0E9}">
      <dgm:prSet/>
      <dgm:spPr/>
      <dgm:t>
        <a:bodyPr/>
        <a:lstStyle/>
        <a:p>
          <a:endParaRPr lang="en-US"/>
        </a:p>
      </dgm:t>
    </dgm:pt>
    <dgm:pt modelId="{6A4474A0-5FA8-44C9-825C-E7D2BF508C13}" type="sibTrans" cxnId="{8AFDD70B-DBE2-4604-9605-DFC8E0ABD0E9}">
      <dgm:prSet/>
      <dgm:spPr/>
      <dgm:t>
        <a:bodyPr/>
        <a:lstStyle/>
        <a:p>
          <a:endParaRPr lang="en-US"/>
        </a:p>
      </dgm:t>
    </dgm:pt>
    <dgm:pt modelId="{FB53E162-86D6-4EFE-A514-344A5627C78B}">
      <dgm:prSet/>
      <dgm:spPr/>
      <dgm:t>
        <a:bodyPr/>
        <a:lstStyle/>
        <a:p>
          <a:pPr rtl="0"/>
          <a:r>
            <a:rPr lang="en-US" b="1" dirty="0" smtClean="0"/>
            <a:t>Content Injection: </a:t>
          </a:r>
          <a:r>
            <a:rPr lang="en-US" dirty="0" smtClean="0"/>
            <a:t>Injecting malicious content into official websites</a:t>
          </a:r>
          <a:endParaRPr lang="en-GB" dirty="0"/>
        </a:p>
      </dgm:t>
    </dgm:pt>
    <dgm:pt modelId="{7EE73EA5-0CFB-415E-81D2-0BE793DB4A78}" type="parTrans" cxnId="{D6BCC1C0-A3CD-4678-95D2-E8F46FE6EA33}">
      <dgm:prSet/>
      <dgm:spPr/>
      <dgm:t>
        <a:bodyPr/>
        <a:lstStyle/>
        <a:p>
          <a:endParaRPr lang="en-US"/>
        </a:p>
      </dgm:t>
    </dgm:pt>
    <dgm:pt modelId="{7A4F502F-2C43-4D55-AACD-11F60D2BB384}" type="sibTrans" cxnId="{D6BCC1C0-A3CD-4678-95D2-E8F46FE6EA33}">
      <dgm:prSet/>
      <dgm:spPr/>
      <dgm:t>
        <a:bodyPr/>
        <a:lstStyle/>
        <a:p>
          <a:endParaRPr lang="en-US"/>
        </a:p>
      </dgm:t>
    </dgm:pt>
    <dgm:pt modelId="{4CAB8211-A40C-4DDD-8CFE-152F65AE69AD}" type="pres">
      <dgm:prSet presAssocID="{E14D911B-FACD-4F91-8BD7-1967ABB16B78}" presName="linear" presStyleCnt="0">
        <dgm:presLayoutVars>
          <dgm:animLvl val="lvl"/>
          <dgm:resizeHandles val="exact"/>
        </dgm:presLayoutVars>
      </dgm:prSet>
      <dgm:spPr/>
      <dgm:t>
        <a:bodyPr/>
        <a:lstStyle/>
        <a:p>
          <a:endParaRPr lang="en-US"/>
        </a:p>
      </dgm:t>
    </dgm:pt>
    <dgm:pt modelId="{9BC5680A-C432-40C6-86E9-AF497F656751}" type="pres">
      <dgm:prSet presAssocID="{C88BB65B-E19D-41E2-A481-65151C199FB0}" presName="parentText" presStyleLbl="node1" presStyleIdx="0" presStyleCnt="5">
        <dgm:presLayoutVars>
          <dgm:chMax val="0"/>
          <dgm:bulletEnabled val="1"/>
        </dgm:presLayoutVars>
      </dgm:prSet>
      <dgm:spPr/>
      <dgm:t>
        <a:bodyPr/>
        <a:lstStyle/>
        <a:p>
          <a:endParaRPr lang="en-US"/>
        </a:p>
      </dgm:t>
    </dgm:pt>
    <dgm:pt modelId="{48C75147-5EDD-4418-945F-FFDA61FC4C5A}" type="pres">
      <dgm:prSet presAssocID="{9BC9DAB9-89C9-434C-8247-C2B03F51AD8B}" presName="spacer" presStyleCnt="0"/>
      <dgm:spPr/>
    </dgm:pt>
    <dgm:pt modelId="{A33EC96D-BE54-45DA-BCB8-C9108A4B915B}" type="pres">
      <dgm:prSet presAssocID="{ADDE5A8A-1F27-4F5A-B612-8299FBBAC834}" presName="parentText" presStyleLbl="node1" presStyleIdx="1" presStyleCnt="5">
        <dgm:presLayoutVars>
          <dgm:chMax val="0"/>
          <dgm:bulletEnabled val="1"/>
        </dgm:presLayoutVars>
      </dgm:prSet>
      <dgm:spPr/>
      <dgm:t>
        <a:bodyPr/>
        <a:lstStyle/>
        <a:p>
          <a:endParaRPr lang="en-US"/>
        </a:p>
      </dgm:t>
    </dgm:pt>
    <dgm:pt modelId="{3585E964-1048-42FE-9ECA-2DA62019B9C8}" type="pres">
      <dgm:prSet presAssocID="{0F53F9D4-E859-4BC5-8D85-279D23AE46F5}" presName="spacer" presStyleCnt="0"/>
      <dgm:spPr/>
    </dgm:pt>
    <dgm:pt modelId="{5522D0F1-27DF-4362-B682-0E128A56CEAC}" type="pres">
      <dgm:prSet presAssocID="{20F8E510-9E6A-42F1-B0A8-7E47BC5FB578}" presName="parentText" presStyleLbl="node1" presStyleIdx="2" presStyleCnt="5">
        <dgm:presLayoutVars>
          <dgm:chMax val="0"/>
          <dgm:bulletEnabled val="1"/>
        </dgm:presLayoutVars>
      </dgm:prSet>
      <dgm:spPr/>
      <dgm:t>
        <a:bodyPr/>
        <a:lstStyle/>
        <a:p>
          <a:endParaRPr lang="en-US"/>
        </a:p>
      </dgm:t>
    </dgm:pt>
    <dgm:pt modelId="{36B4255D-CAAD-46CA-86EC-825CDD4C5E85}" type="pres">
      <dgm:prSet presAssocID="{E3FB31F7-E6DD-41CC-8D47-772A3E844739}" presName="spacer" presStyleCnt="0"/>
      <dgm:spPr/>
    </dgm:pt>
    <dgm:pt modelId="{7BCA1D43-EEE0-4E6A-9C71-A4DF9D0D7820}" type="pres">
      <dgm:prSet presAssocID="{072D78E5-DCEF-4153-9075-206FCD633502}" presName="parentText" presStyleLbl="node1" presStyleIdx="3" presStyleCnt="5">
        <dgm:presLayoutVars>
          <dgm:chMax val="0"/>
          <dgm:bulletEnabled val="1"/>
        </dgm:presLayoutVars>
      </dgm:prSet>
      <dgm:spPr/>
      <dgm:t>
        <a:bodyPr/>
        <a:lstStyle/>
        <a:p>
          <a:endParaRPr lang="en-US"/>
        </a:p>
      </dgm:t>
    </dgm:pt>
    <dgm:pt modelId="{114EAFC8-B958-45B9-B980-D21352ABEF86}" type="pres">
      <dgm:prSet presAssocID="{6A4474A0-5FA8-44C9-825C-E7D2BF508C13}" presName="spacer" presStyleCnt="0"/>
      <dgm:spPr/>
    </dgm:pt>
    <dgm:pt modelId="{52704803-5CF1-41AF-8A86-D223138F4604}" type="pres">
      <dgm:prSet presAssocID="{FB53E162-86D6-4EFE-A514-344A5627C78B}" presName="parentText" presStyleLbl="node1" presStyleIdx="4" presStyleCnt="5">
        <dgm:presLayoutVars>
          <dgm:chMax val="0"/>
          <dgm:bulletEnabled val="1"/>
        </dgm:presLayoutVars>
      </dgm:prSet>
      <dgm:spPr/>
      <dgm:t>
        <a:bodyPr/>
        <a:lstStyle/>
        <a:p>
          <a:endParaRPr lang="en-US"/>
        </a:p>
      </dgm:t>
    </dgm:pt>
  </dgm:ptLst>
  <dgm:cxnLst>
    <dgm:cxn modelId="{8D4706FF-9F0A-4C3B-AD54-054A93D74A5E}" type="presOf" srcId="{FB53E162-86D6-4EFE-A514-344A5627C78B}" destId="{52704803-5CF1-41AF-8A86-D223138F4604}" srcOrd="0" destOrd="0" presId="urn:microsoft.com/office/officeart/2005/8/layout/vList2"/>
    <dgm:cxn modelId="{71638025-AE65-4400-B55D-ACD917D73ED5}" srcId="{E14D911B-FACD-4F91-8BD7-1967ABB16B78}" destId="{ADDE5A8A-1F27-4F5A-B612-8299FBBAC834}" srcOrd="1" destOrd="0" parTransId="{EB5D926F-AA10-420B-B66F-B114894BD244}" sibTransId="{0F53F9D4-E859-4BC5-8D85-279D23AE46F5}"/>
    <dgm:cxn modelId="{8AFDD70B-DBE2-4604-9605-DFC8E0ABD0E9}" srcId="{E14D911B-FACD-4F91-8BD7-1967ABB16B78}" destId="{072D78E5-DCEF-4153-9075-206FCD633502}" srcOrd="3" destOrd="0" parTransId="{608D95A9-5375-47F3-A6AC-75463C058E34}" sibTransId="{6A4474A0-5FA8-44C9-825C-E7D2BF508C13}"/>
    <dgm:cxn modelId="{D6BCC1C0-A3CD-4678-95D2-E8F46FE6EA33}" srcId="{E14D911B-FACD-4F91-8BD7-1967ABB16B78}" destId="{FB53E162-86D6-4EFE-A514-344A5627C78B}" srcOrd="4" destOrd="0" parTransId="{7EE73EA5-0CFB-415E-81D2-0BE793DB4A78}" sibTransId="{7A4F502F-2C43-4D55-AACD-11F60D2BB384}"/>
    <dgm:cxn modelId="{CA76B080-010E-461E-93FF-8E2605DA9270}" type="presOf" srcId="{072D78E5-DCEF-4153-9075-206FCD633502}" destId="{7BCA1D43-EEE0-4E6A-9C71-A4DF9D0D7820}" srcOrd="0" destOrd="0" presId="urn:microsoft.com/office/officeart/2005/8/layout/vList2"/>
    <dgm:cxn modelId="{631FA797-F151-4AF3-893D-AFEC9173A919}" srcId="{E14D911B-FACD-4F91-8BD7-1967ABB16B78}" destId="{20F8E510-9E6A-42F1-B0A8-7E47BC5FB578}" srcOrd="2" destOrd="0" parTransId="{A8040B60-47BC-4B67-94B4-DCE4193F8EA5}" sibTransId="{E3FB31F7-E6DD-41CC-8D47-772A3E844739}"/>
    <dgm:cxn modelId="{3BCD06E9-6BBC-48AE-96CC-F578C9C21426}" type="presOf" srcId="{C88BB65B-E19D-41E2-A481-65151C199FB0}" destId="{9BC5680A-C432-40C6-86E9-AF497F656751}" srcOrd="0" destOrd="0" presId="urn:microsoft.com/office/officeart/2005/8/layout/vList2"/>
    <dgm:cxn modelId="{5D35F6E0-0C67-483D-B7B1-F404EA2B5817}" type="presOf" srcId="{ADDE5A8A-1F27-4F5A-B612-8299FBBAC834}" destId="{A33EC96D-BE54-45DA-BCB8-C9108A4B915B}" srcOrd="0" destOrd="0" presId="urn:microsoft.com/office/officeart/2005/8/layout/vList2"/>
    <dgm:cxn modelId="{382E6362-4476-4C8B-891B-B56B9BD36DEE}" type="presOf" srcId="{E14D911B-FACD-4F91-8BD7-1967ABB16B78}" destId="{4CAB8211-A40C-4DDD-8CFE-152F65AE69AD}" srcOrd="0" destOrd="0" presId="urn:microsoft.com/office/officeart/2005/8/layout/vList2"/>
    <dgm:cxn modelId="{287A0C34-E70F-4F6B-82CD-FDFF5FA6F179}" type="presOf" srcId="{20F8E510-9E6A-42F1-B0A8-7E47BC5FB578}" destId="{5522D0F1-27DF-4362-B682-0E128A56CEAC}" srcOrd="0" destOrd="0" presId="urn:microsoft.com/office/officeart/2005/8/layout/vList2"/>
    <dgm:cxn modelId="{E9E27B1B-847D-41E7-8E04-71071C9B8EF1}" srcId="{E14D911B-FACD-4F91-8BD7-1967ABB16B78}" destId="{C88BB65B-E19D-41E2-A481-65151C199FB0}" srcOrd="0" destOrd="0" parTransId="{3631ED09-5E3E-4E5E-9996-636A109CABB6}" sibTransId="{9BC9DAB9-89C9-434C-8247-C2B03F51AD8B}"/>
    <dgm:cxn modelId="{71C37F21-9E2A-4F3D-AFA1-FA82DB4F2919}" type="presParOf" srcId="{4CAB8211-A40C-4DDD-8CFE-152F65AE69AD}" destId="{9BC5680A-C432-40C6-86E9-AF497F656751}" srcOrd="0" destOrd="0" presId="urn:microsoft.com/office/officeart/2005/8/layout/vList2"/>
    <dgm:cxn modelId="{3F92021C-CE90-43D9-9CAE-EA7B9E84D426}" type="presParOf" srcId="{4CAB8211-A40C-4DDD-8CFE-152F65AE69AD}" destId="{48C75147-5EDD-4418-945F-FFDA61FC4C5A}" srcOrd="1" destOrd="0" presId="urn:microsoft.com/office/officeart/2005/8/layout/vList2"/>
    <dgm:cxn modelId="{4798B8DD-35E2-4150-8403-E4329ECB6460}" type="presParOf" srcId="{4CAB8211-A40C-4DDD-8CFE-152F65AE69AD}" destId="{A33EC96D-BE54-45DA-BCB8-C9108A4B915B}" srcOrd="2" destOrd="0" presId="urn:microsoft.com/office/officeart/2005/8/layout/vList2"/>
    <dgm:cxn modelId="{53C434B3-AF91-4673-AA07-E80B5A47DE4F}" type="presParOf" srcId="{4CAB8211-A40C-4DDD-8CFE-152F65AE69AD}" destId="{3585E964-1048-42FE-9ECA-2DA62019B9C8}" srcOrd="3" destOrd="0" presId="urn:microsoft.com/office/officeart/2005/8/layout/vList2"/>
    <dgm:cxn modelId="{1477FCD9-D95F-4891-936F-4DD0E0EBDA58}" type="presParOf" srcId="{4CAB8211-A40C-4DDD-8CFE-152F65AE69AD}" destId="{5522D0F1-27DF-4362-B682-0E128A56CEAC}" srcOrd="4" destOrd="0" presId="urn:microsoft.com/office/officeart/2005/8/layout/vList2"/>
    <dgm:cxn modelId="{5C17793C-DCC3-4AEB-92DA-CBCAD20CCB34}" type="presParOf" srcId="{4CAB8211-A40C-4DDD-8CFE-152F65AE69AD}" destId="{36B4255D-CAAD-46CA-86EC-825CDD4C5E85}" srcOrd="5" destOrd="0" presId="urn:microsoft.com/office/officeart/2005/8/layout/vList2"/>
    <dgm:cxn modelId="{2467E874-2241-4493-B8F2-3C9012A63933}" type="presParOf" srcId="{4CAB8211-A40C-4DDD-8CFE-152F65AE69AD}" destId="{7BCA1D43-EEE0-4E6A-9C71-A4DF9D0D7820}" srcOrd="6" destOrd="0" presId="urn:microsoft.com/office/officeart/2005/8/layout/vList2"/>
    <dgm:cxn modelId="{431B4C8D-31E1-442C-9208-5936426FB205}" type="presParOf" srcId="{4CAB8211-A40C-4DDD-8CFE-152F65AE69AD}" destId="{114EAFC8-B958-45B9-B980-D21352ABEF86}" srcOrd="7" destOrd="0" presId="urn:microsoft.com/office/officeart/2005/8/layout/vList2"/>
    <dgm:cxn modelId="{9F87AABE-3B90-4467-9262-0D4F4A773AF6}" type="presParOf" srcId="{4CAB8211-A40C-4DDD-8CFE-152F65AE69AD}" destId="{52704803-5CF1-41AF-8A86-D223138F460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2B9229-56AB-489E-9BD0-C6FE972290BB}"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DD55E050-6688-407F-8D94-6C557200386F}">
      <dgm:prSet/>
      <dgm:spPr/>
      <dgm:t>
        <a:bodyPr/>
        <a:lstStyle/>
        <a:p>
          <a:pPr algn="just" rtl="0"/>
          <a:r>
            <a:rPr lang="en-US" dirty="0" smtClean="0">
              <a:solidFill>
                <a:schemeClr val="bg1"/>
              </a:solidFill>
              <a:latin typeface="Roboto" panose="020B0604020202020204" charset="0"/>
              <a:ea typeface="Roboto" panose="020B0604020202020204" charset="0"/>
            </a:rPr>
            <a:t>Ethical Hacking: Also known as penetration testing, this involves legally breaking into computers and devices to test an organization's defenses. ​</a:t>
          </a:r>
          <a:endParaRPr lang="en-GB" dirty="0">
            <a:solidFill>
              <a:schemeClr val="bg1"/>
            </a:solidFill>
            <a:latin typeface="Roboto" panose="020B0604020202020204" charset="0"/>
            <a:ea typeface="Roboto" panose="020B0604020202020204" charset="0"/>
          </a:endParaRPr>
        </a:p>
      </dgm:t>
    </dgm:pt>
    <dgm:pt modelId="{407BFFAB-4721-4A89-9CB6-A7229A0A9B8E}" type="parTrans" cxnId="{25A51254-8C03-4437-8386-78513B17CA98}">
      <dgm:prSet/>
      <dgm:spPr/>
      <dgm:t>
        <a:bodyPr/>
        <a:lstStyle/>
        <a:p>
          <a:endParaRPr lang="en-US"/>
        </a:p>
      </dgm:t>
    </dgm:pt>
    <dgm:pt modelId="{CF0ABA5C-EFD0-4FC6-9940-1522190BDE84}" type="sibTrans" cxnId="{25A51254-8C03-4437-8386-78513B17CA98}">
      <dgm:prSet/>
      <dgm:spPr/>
      <dgm:t>
        <a:bodyPr/>
        <a:lstStyle/>
        <a:p>
          <a:endParaRPr lang="en-US"/>
        </a:p>
      </dgm:t>
    </dgm:pt>
    <dgm:pt modelId="{420FD1C0-65E4-494C-AA0E-022E5E7637D3}">
      <dgm:prSet/>
      <dgm:spPr/>
      <dgm:t>
        <a:bodyPr/>
        <a:lstStyle/>
        <a:p>
          <a:pPr algn="just" rtl="0"/>
          <a:r>
            <a:rPr lang="en-US" dirty="0" smtClean="0">
              <a:solidFill>
                <a:schemeClr val="bg1"/>
              </a:solidFill>
              <a:latin typeface="Roboto" panose="020B0604020202020204" charset="0"/>
              <a:ea typeface="Roboto" panose="020B0604020202020204" charset="0"/>
            </a:rPr>
            <a:t>Unethical Hacking: Involves malicious activities such as stealing data, causing disruption, or conducting unauthorized surveillance.​</a:t>
          </a:r>
          <a:endParaRPr lang="en-GB" dirty="0">
            <a:solidFill>
              <a:schemeClr val="bg1"/>
            </a:solidFill>
            <a:latin typeface="Roboto" panose="020B0604020202020204" charset="0"/>
            <a:ea typeface="Roboto" panose="020B0604020202020204" charset="0"/>
          </a:endParaRPr>
        </a:p>
      </dgm:t>
    </dgm:pt>
    <dgm:pt modelId="{907508C4-FB7A-4CF2-A364-70BD8C6E3DA0}" type="parTrans" cxnId="{F63713C6-6CF3-42E6-8D3C-43F01D4FE3FE}">
      <dgm:prSet/>
      <dgm:spPr/>
      <dgm:t>
        <a:bodyPr/>
        <a:lstStyle/>
        <a:p>
          <a:endParaRPr lang="en-US"/>
        </a:p>
      </dgm:t>
    </dgm:pt>
    <dgm:pt modelId="{73E49E60-F416-4647-B844-C89F30739BB2}" type="sibTrans" cxnId="{F63713C6-6CF3-42E6-8D3C-43F01D4FE3FE}">
      <dgm:prSet/>
      <dgm:spPr/>
      <dgm:t>
        <a:bodyPr/>
        <a:lstStyle/>
        <a:p>
          <a:endParaRPr lang="en-US"/>
        </a:p>
      </dgm:t>
    </dgm:pt>
    <dgm:pt modelId="{D7D4D56F-6FE6-418F-A505-2B74C51FB5CB}" type="pres">
      <dgm:prSet presAssocID="{682B9229-56AB-489E-9BD0-C6FE972290BB}" presName="Name0" presStyleCnt="0">
        <dgm:presLayoutVars>
          <dgm:dir/>
          <dgm:resizeHandles val="exact"/>
        </dgm:presLayoutVars>
      </dgm:prSet>
      <dgm:spPr/>
      <dgm:t>
        <a:bodyPr/>
        <a:lstStyle/>
        <a:p>
          <a:endParaRPr lang="en-US"/>
        </a:p>
      </dgm:t>
    </dgm:pt>
    <dgm:pt modelId="{4D84586F-F4CD-4A0F-BBEB-5EC45C1ADBD1}" type="pres">
      <dgm:prSet presAssocID="{DD55E050-6688-407F-8D94-6C557200386F}" presName="compNode" presStyleCnt="0"/>
      <dgm:spPr/>
    </dgm:pt>
    <dgm:pt modelId="{0A684FDA-8DCF-47B2-A4CC-85DC523DD15A}" type="pres">
      <dgm:prSet presAssocID="{DD55E050-6688-407F-8D94-6C557200386F}" presName="pictRect" presStyleLbl="node1" presStyleIdx="0" presStyleCnt="2" custScaleX="73488" custScaleY="67672"/>
      <dgm:spPr>
        <a:prstGeom prst="snip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3000" b="-3000"/>
          </a:stretch>
        </a:blipFill>
      </dgm:spPr>
      <dgm:t>
        <a:bodyPr/>
        <a:lstStyle/>
        <a:p>
          <a:endParaRPr lang="en-US"/>
        </a:p>
      </dgm:t>
    </dgm:pt>
    <dgm:pt modelId="{797417AD-2CB2-41AD-B3A1-44113B23E2A3}" type="pres">
      <dgm:prSet presAssocID="{DD55E050-6688-407F-8D94-6C557200386F}" presName="textRect" presStyleLbl="revTx" presStyleIdx="0" presStyleCnt="2">
        <dgm:presLayoutVars>
          <dgm:bulletEnabled val="1"/>
        </dgm:presLayoutVars>
      </dgm:prSet>
      <dgm:spPr/>
      <dgm:t>
        <a:bodyPr/>
        <a:lstStyle/>
        <a:p>
          <a:endParaRPr lang="en-US"/>
        </a:p>
      </dgm:t>
    </dgm:pt>
    <dgm:pt modelId="{A84BCD07-83F5-4035-99ED-C939BDD98506}" type="pres">
      <dgm:prSet presAssocID="{CF0ABA5C-EFD0-4FC6-9940-1522190BDE84}" presName="sibTrans" presStyleLbl="sibTrans2D1" presStyleIdx="0" presStyleCnt="0"/>
      <dgm:spPr/>
      <dgm:t>
        <a:bodyPr/>
        <a:lstStyle/>
        <a:p>
          <a:endParaRPr lang="en-US"/>
        </a:p>
      </dgm:t>
    </dgm:pt>
    <dgm:pt modelId="{C4498D2C-194D-4833-9D59-5CD661197B2F}" type="pres">
      <dgm:prSet presAssocID="{420FD1C0-65E4-494C-AA0E-022E5E7637D3}" presName="compNode" presStyleCnt="0"/>
      <dgm:spPr/>
    </dgm:pt>
    <dgm:pt modelId="{D7D48863-04FD-42FB-AFD9-D76936BCD0B3}" type="pres">
      <dgm:prSet presAssocID="{420FD1C0-65E4-494C-AA0E-022E5E7637D3}" presName="pictRect" presStyleLbl="node1" presStyleIdx="1" presStyleCnt="2" custScaleX="74663" custScaleY="69170"/>
      <dgm:spPr>
        <a:prstGeom prst="snip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1000" r="-11000"/>
          </a:stretch>
        </a:blipFill>
      </dgm:spPr>
    </dgm:pt>
    <dgm:pt modelId="{FE992BF8-75C7-41F5-98EE-08B6D8573871}" type="pres">
      <dgm:prSet presAssocID="{420FD1C0-65E4-494C-AA0E-022E5E7637D3}" presName="textRect" presStyleLbl="revTx" presStyleIdx="1" presStyleCnt="2">
        <dgm:presLayoutVars>
          <dgm:bulletEnabled val="1"/>
        </dgm:presLayoutVars>
      </dgm:prSet>
      <dgm:spPr/>
      <dgm:t>
        <a:bodyPr/>
        <a:lstStyle/>
        <a:p>
          <a:endParaRPr lang="en-US"/>
        </a:p>
      </dgm:t>
    </dgm:pt>
  </dgm:ptLst>
  <dgm:cxnLst>
    <dgm:cxn modelId="{DD80AFAA-2A0D-4885-850B-DDD97BB60EB3}" type="presOf" srcId="{DD55E050-6688-407F-8D94-6C557200386F}" destId="{797417AD-2CB2-41AD-B3A1-44113B23E2A3}" srcOrd="0" destOrd="0" presId="urn:microsoft.com/office/officeart/2005/8/layout/pList1"/>
    <dgm:cxn modelId="{66367842-02B1-4518-9AE3-6972C937D9C5}" type="presOf" srcId="{420FD1C0-65E4-494C-AA0E-022E5E7637D3}" destId="{FE992BF8-75C7-41F5-98EE-08B6D8573871}" srcOrd="0" destOrd="0" presId="urn:microsoft.com/office/officeart/2005/8/layout/pList1"/>
    <dgm:cxn modelId="{25A51254-8C03-4437-8386-78513B17CA98}" srcId="{682B9229-56AB-489E-9BD0-C6FE972290BB}" destId="{DD55E050-6688-407F-8D94-6C557200386F}" srcOrd="0" destOrd="0" parTransId="{407BFFAB-4721-4A89-9CB6-A7229A0A9B8E}" sibTransId="{CF0ABA5C-EFD0-4FC6-9940-1522190BDE84}"/>
    <dgm:cxn modelId="{F63713C6-6CF3-42E6-8D3C-43F01D4FE3FE}" srcId="{682B9229-56AB-489E-9BD0-C6FE972290BB}" destId="{420FD1C0-65E4-494C-AA0E-022E5E7637D3}" srcOrd="1" destOrd="0" parTransId="{907508C4-FB7A-4CF2-A364-70BD8C6E3DA0}" sibTransId="{73E49E60-F416-4647-B844-C89F30739BB2}"/>
    <dgm:cxn modelId="{84EA7A79-2E73-4E18-93FF-F0216C6568B2}" type="presOf" srcId="{CF0ABA5C-EFD0-4FC6-9940-1522190BDE84}" destId="{A84BCD07-83F5-4035-99ED-C939BDD98506}" srcOrd="0" destOrd="0" presId="urn:microsoft.com/office/officeart/2005/8/layout/pList1"/>
    <dgm:cxn modelId="{3B980F8B-D46A-4E0F-B8E3-8100ED50C0F5}" type="presOf" srcId="{682B9229-56AB-489E-9BD0-C6FE972290BB}" destId="{D7D4D56F-6FE6-418F-A505-2B74C51FB5CB}" srcOrd="0" destOrd="0" presId="urn:microsoft.com/office/officeart/2005/8/layout/pList1"/>
    <dgm:cxn modelId="{D46D8790-3852-49D6-904E-31C75D847DF0}" type="presParOf" srcId="{D7D4D56F-6FE6-418F-A505-2B74C51FB5CB}" destId="{4D84586F-F4CD-4A0F-BBEB-5EC45C1ADBD1}" srcOrd="0" destOrd="0" presId="urn:microsoft.com/office/officeart/2005/8/layout/pList1"/>
    <dgm:cxn modelId="{2D72D64E-E788-451C-9981-21C253183875}" type="presParOf" srcId="{4D84586F-F4CD-4A0F-BBEB-5EC45C1ADBD1}" destId="{0A684FDA-8DCF-47B2-A4CC-85DC523DD15A}" srcOrd="0" destOrd="0" presId="urn:microsoft.com/office/officeart/2005/8/layout/pList1"/>
    <dgm:cxn modelId="{B33EBCE1-F69B-4744-8009-7FFD3EAB7C63}" type="presParOf" srcId="{4D84586F-F4CD-4A0F-BBEB-5EC45C1ADBD1}" destId="{797417AD-2CB2-41AD-B3A1-44113B23E2A3}" srcOrd="1" destOrd="0" presId="urn:microsoft.com/office/officeart/2005/8/layout/pList1"/>
    <dgm:cxn modelId="{8204392C-6F53-46F9-B353-FA5F66FC1ACB}" type="presParOf" srcId="{D7D4D56F-6FE6-418F-A505-2B74C51FB5CB}" destId="{A84BCD07-83F5-4035-99ED-C939BDD98506}" srcOrd="1" destOrd="0" presId="urn:microsoft.com/office/officeart/2005/8/layout/pList1"/>
    <dgm:cxn modelId="{2BDB7415-D298-4032-8305-E7B0C2DECF28}" type="presParOf" srcId="{D7D4D56F-6FE6-418F-A505-2B74C51FB5CB}" destId="{C4498D2C-194D-4833-9D59-5CD661197B2F}" srcOrd="2" destOrd="0" presId="urn:microsoft.com/office/officeart/2005/8/layout/pList1"/>
    <dgm:cxn modelId="{A994CFEC-5F47-40D4-96CC-540772742693}" type="presParOf" srcId="{C4498D2C-194D-4833-9D59-5CD661197B2F}" destId="{D7D48863-04FD-42FB-AFD9-D76936BCD0B3}" srcOrd="0" destOrd="0" presId="urn:microsoft.com/office/officeart/2005/8/layout/pList1"/>
    <dgm:cxn modelId="{CF94E635-6E4C-4198-9F07-0DA49F48BC6D}" type="presParOf" srcId="{C4498D2C-194D-4833-9D59-5CD661197B2F}" destId="{FE992BF8-75C7-41F5-98EE-08B6D8573871}"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C5680A-C432-40C6-86E9-AF497F656751}">
      <dsp:nvSpPr>
        <dsp:cNvPr id="0" name=""/>
        <dsp:cNvSpPr/>
      </dsp:nvSpPr>
      <dsp:spPr>
        <a:xfrm>
          <a:off x="0" y="574751"/>
          <a:ext cx="10909738" cy="50368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t>Malicious Web Links: </a:t>
          </a:r>
          <a:r>
            <a:rPr lang="en-US" sz="2100" kern="1200" dirty="0" smtClean="0"/>
            <a:t>Phishing links that take users to websites infected with malware.</a:t>
          </a:r>
          <a:endParaRPr lang="en-GB" sz="2100" kern="1200" dirty="0"/>
        </a:p>
      </dsp:txBody>
      <dsp:txXfrm>
        <a:off x="24588" y="599339"/>
        <a:ext cx="10860562" cy="454509"/>
      </dsp:txXfrm>
    </dsp:sp>
    <dsp:sp modelId="{A33EC96D-BE54-45DA-BCB8-C9108A4B915B}">
      <dsp:nvSpPr>
        <dsp:cNvPr id="0" name=""/>
        <dsp:cNvSpPr/>
      </dsp:nvSpPr>
      <dsp:spPr>
        <a:xfrm>
          <a:off x="0" y="1138916"/>
          <a:ext cx="10909738" cy="50368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t>Malicious Attachments: </a:t>
          </a:r>
          <a:r>
            <a:rPr lang="en-US" sz="2100" kern="1200" dirty="0" smtClean="0"/>
            <a:t>Infected attachments that can compromise computers.</a:t>
          </a:r>
          <a:endParaRPr lang="en-GB" sz="2100" kern="1200" dirty="0"/>
        </a:p>
      </dsp:txBody>
      <dsp:txXfrm>
        <a:off x="24588" y="1163504"/>
        <a:ext cx="10860562" cy="454509"/>
      </dsp:txXfrm>
    </dsp:sp>
    <dsp:sp modelId="{5522D0F1-27DF-4362-B682-0E128A56CEAC}">
      <dsp:nvSpPr>
        <dsp:cNvPr id="0" name=""/>
        <dsp:cNvSpPr/>
      </dsp:nvSpPr>
      <dsp:spPr>
        <a:xfrm>
          <a:off x="0" y="1703081"/>
          <a:ext cx="10909738" cy="50368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t>Fraudulent Data-Entry Forms: </a:t>
          </a:r>
          <a:r>
            <a:rPr lang="en-US" sz="2100" kern="1200" dirty="0" smtClean="0"/>
            <a:t>Fake forms that trick victims into revealing sensitive information.</a:t>
          </a:r>
          <a:endParaRPr lang="en-GB" sz="2100" kern="1200" dirty="0"/>
        </a:p>
      </dsp:txBody>
      <dsp:txXfrm>
        <a:off x="24588" y="1727669"/>
        <a:ext cx="10860562" cy="454509"/>
      </dsp:txXfrm>
    </dsp:sp>
    <dsp:sp modelId="{7BCA1D43-EEE0-4E6A-9C71-A4DF9D0D7820}">
      <dsp:nvSpPr>
        <dsp:cNvPr id="0" name=""/>
        <dsp:cNvSpPr/>
      </dsp:nvSpPr>
      <dsp:spPr>
        <a:xfrm>
          <a:off x="0" y="2267246"/>
          <a:ext cx="10909738" cy="50368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t>Link Manipulation: </a:t>
          </a:r>
          <a:r>
            <a:rPr lang="en-US" sz="2100" kern="1200" dirty="0" smtClean="0"/>
            <a:t>Disguising malicious links as trusted links.</a:t>
          </a:r>
          <a:endParaRPr lang="en-GB" sz="2100" kern="1200" dirty="0"/>
        </a:p>
      </dsp:txBody>
      <dsp:txXfrm>
        <a:off x="24588" y="2291834"/>
        <a:ext cx="10860562" cy="454509"/>
      </dsp:txXfrm>
    </dsp:sp>
    <dsp:sp modelId="{52704803-5CF1-41AF-8A86-D223138F4604}">
      <dsp:nvSpPr>
        <dsp:cNvPr id="0" name=""/>
        <dsp:cNvSpPr/>
      </dsp:nvSpPr>
      <dsp:spPr>
        <a:xfrm>
          <a:off x="0" y="2831411"/>
          <a:ext cx="10909738" cy="50368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t>Content Injection: </a:t>
          </a:r>
          <a:r>
            <a:rPr lang="en-US" sz="2100" kern="1200" dirty="0" smtClean="0"/>
            <a:t>Injecting malicious content into official websites</a:t>
          </a:r>
          <a:endParaRPr lang="en-GB" sz="2100" kern="1200" dirty="0"/>
        </a:p>
      </dsp:txBody>
      <dsp:txXfrm>
        <a:off x="24588" y="2855999"/>
        <a:ext cx="10860562" cy="4545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84FDA-8DCF-47B2-A4CC-85DC523DD15A}">
      <dsp:nvSpPr>
        <dsp:cNvPr id="0" name=""/>
        <dsp:cNvSpPr/>
      </dsp:nvSpPr>
      <dsp:spPr>
        <a:xfrm>
          <a:off x="1750402" y="12870"/>
          <a:ext cx="3333466" cy="2114987"/>
        </a:xfrm>
        <a:prstGeom prst="snip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3000" b="-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7417AD-2CB2-41AD-B3A1-44113B23E2A3}">
      <dsp:nvSpPr>
        <dsp:cNvPr id="0" name=""/>
        <dsp:cNvSpPr/>
      </dsp:nvSpPr>
      <dsp:spPr>
        <a:xfrm>
          <a:off x="1149101" y="2633040"/>
          <a:ext cx="4536068" cy="1682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lvl="0" algn="just" defTabSz="977900" rtl="0">
            <a:lnSpc>
              <a:spcPct val="90000"/>
            </a:lnSpc>
            <a:spcBef>
              <a:spcPct val="0"/>
            </a:spcBef>
            <a:spcAft>
              <a:spcPct val="35000"/>
            </a:spcAft>
          </a:pPr>
          <a:r>
            <a:rPr lang="en-US" sz="2200" kern="1200" dirty="0" smtClean="0">
              <a:solidFill>
                <a:schemeClr val="bg1"/>
              </a:solidFill>
              <a:latin typeface="Roboto" panose="020B0604020202020204" charset="0"/>
              <a:ea typeface="Roboto" panose="020B0604020202020204" charset="0"/>
            </a:rPr>
            <a:t>Ethical Hacking: Also known as penetration testing, this involves legally breaking into computers and devices to test an organization's defenses. ​</a:t>
          </a:r>
          <a:endParaRPr lang="en-GB" sz="2200" kern="1200" dirty="0">
            <a:solidFill>
              <a:schemeClr val="bg1"/>
            </a:solidFill>
            <a:latin typeface="Roboto" panose="020B0604020202020204" charset="0"/>
            <a:ea typeface="Roboto" panose="020B0604020202020204" charset="0"/>
          </a:endParaRPr>
        </a:p>
      </dsp:txBody>
      <dsp:txXfrm>
        <a:off x="1149101" y="2633040"/>
        <a:ext cx="4536068" cy="1682881"/>
      </dsp:txXfrm>
    </dsp:sp>
    <dsp:sp modelId="{D7D48863-04FD-42FB-AFD9-D76936BCD0B3}">
      <dsp:nvSpPr>
        <dsp:cNvPr id="0" name=""/>
        <dsp:cNvSpPr/>
      </dsp:nvSpPr>
      <dsp:spPr>
        <a:xfrm>
          <a:off x="6713619" y="1165"/>
          <a:ext cx="3386765" cy="2161805"/>
        </a:xfrm>
        <a:prstGeom prst="snip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992BF8-75C7-41F5-98EE-08B6D8573871}">
      <dsp:nvSpPr>
        <dsp:cNvPr id="0" name=""/>
        <dsp:cNvSpPr/>
      </dsp:nvSpPr>
      <dsp:spPr>
        <a:xfrm>
          <a:off x="6138967" y="2644744"/>
          <a:ext cx="4536068" cy="1682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lvl="0" algn="just" defTabSz="977900" rtl="0">
            <a:lnSpc>
              <a:spcPct val="90000"/>
            </a:lnSpc>
            <a:spcBef>
              <a:spcPct val="0"/>
            </a:spcBef>
            <a:spcAft>
              <a:spcPct val="35000"/>
            </a:spcAft>
          </a:pPr>
          <a:r>
            <a:rPr lang="en-US" sz="2200" kern="1200" dirty="0" smtClean="0">
              <a:solidFill>
                <a:schemeClr val="bg1"/>
              </a:solidFill>
              <a:latin typeface="Roboto" panose="020B0604020202020204" charset="0"/>
              <a:ea typeface="Roboto" panose="020B0604020202020204" charset="0"/>
            </a:rPr>
            <a:t>Unethical Hacking: Involves malicious activities such as stealing data, causing disruption, or conducting unauthorized surveillance.​</a:t>
          </a:r>
          <a:endParaRPr lang="en-GB" sz="2200" kern="1200" dirty="0">
            <a:solidFill>
              <a:schemeClr val="bg1"/>
            </a:solidFill>
            <a:latin typeface="Roboto" panose="020B0604020202020204" charset="0"/>
            <a:ea typeface="Roboto" panose="020B0604020202020204" charset="0"/>
          </a:endParaRPr>
        </a:p>
      </dsp:txBody>
      <dsp:txXfrm>
        <a:off x="6138967" y="2644744"/>
        <a:ext cx="4536068" cy="168288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70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Shape 2"/>
          <p:cNvSpPr/>
          <p:nvPr/>
        </p:nvSpPr>
        <p:spPr>
          <a:xfrm>
            <a:off x="793790" y="5129689"/>
            <a:ext cx="362903" cy="362903"/>
          </a:xfrm>
          <a:prstGeom prst="roundRect">
            <a:avLst>
              <a:gd name="adj" fmla="val 25194296"/>
            </a:avLst>
          </a:prstGeom>
          <a:noFill/>
          <a:ln w="7620">
            <a:solidFill>
              <a:srgbClr val="3C3838"/>
            </a:solidFill>
            <a:prstDash val="solid"/>
          </a:ln>
        </p:spPr>
      </p:sp>
      <p:sp>
        <p:nvSpPr>
          <p:cNvPr id="8" name="Rectangle 7"/>
          <p:cNvSpPr/>
          <p:nvPr/>
        </p:nvSpPr>
        <p:spPr>
          <a:xfrm>
            <a:off x="296797" y="3237637"/>
            <a:ext cx="8666155" cy="1754326"/>
          </a:xfrm>
          <a:prstGeom prst="rect">
            <a:avLst/>
          </a:prstGeom>
          <a:noFill/>
        </p:spPr>
        <p:txBody>
          <a:bodyPr wrap="none" lIns="91440" tIns="45720" rIns="91440" bIns="45720">
            <a:spAutoFit/>
            <a:scene3d>
              <a:camera prst="obliqueBottomLeft"/>
              <a:lightRig rig="threePt" dir="t"/>
            </a:scene3d>
          </a:bodyPr>
          <a:lstStyle/>
          <a:p>
            <a:pPr algn="ctr"/>
            <a:r>
              <a:rPr lang="en-US" sz="5400" dirty="0" smtClean="0">
                <a:solidFill>
                  <a:schemeClr val="bg1"/>
                </a:solidFill>
                <a:latin typeface="Roboto Slab" pitchFamily="34" charset="0"/>
                <a:ea typeface="Roboto Slab" pitchFamily="34" charset="-122"/>
                <a:cs typeface="Roboto Slab" pitchFamily="34" charset="-120"/>
              </a:rPr>
              <a:t>Overview On Cybercrimes</a:t>
            </a:r>
            <a:endParaRPr lang="en-US" sz="5400" dirty="0" smtClean="0">
              <a:solidFill>
                <a:schemeClr val="bg1"/>
              </a:solidFill>
            </a:endParaRPr>
          </a:p>
          <a:p>
            <a:pPr algn="ct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005489"/>
            <a:ext cx="5776913" cy="708779"/>
          </a:xfrm>
          <a:prstGeom prst="rect">
            <a:avLst/>
          </a:prstGeom>
          <a:noFill/>
          <a:ln/>
        </p:spPr>
        <p:txBody>
          <a:bodyPr wrap="none" lIns="0" tIns="0" rIns="0" bIns="0" rtlCol="0" anchor="t"/>
          <a:lstStyle/>
          <a:p>
            <a:pPr marL="0" indent="0" algn="l">
              <a:lnSpc>
                <a:spcPts val="5550"/>
              </a:lnSpc>
              <a:buNone/>
            </a:pPr>
            <a:r>
              <a:rPr lang="en-US" sz="4450" dirty="0" smtClean="0">
                <a:solidFill>
                  <a:srgbClr val="76B9FF"/>
                </a:solidFill>
                <a:latin typeface="Roboto Slab" pitchFamily="34" charset="0"/>
                <a:ea typeface="Roboto Slab" pitchFamily="34" charset="-122"/>
                <a:cs typeface="Roboto Slab" pitchFamily="34" charset="-120"/>
              </a:rPr>
              <a:t>What is Cybercrime…?</a:t>
            </a:r>
            <a:endParaRPr lang="en-US" sz="4450" dirty="0"/>
          </a:p>
        </p:txBody>
      </p:sp>
      <p:sp>
        <p:nvSpPr>
          <p:cNvPr id="6" name="Text 3"/>
          <p:cNvSpPr/>
          <p:nvPr/>
        </p:nvSpPr>
        <p:spPr>
          <a:xfrm>
            <a:off x="793790" y="3169377"/>
            <a:ext cx="7982348" cy="1549767"/>
          </a:xfrm>
          <a:prstGeom prst="rect">
            <a:avLst/>
          </a:prstGeom>
          <a:noFill/>
          <a:ln/>
        </p:spPr>
        <p:txBody>
          <a:bodyPr wrap="square" lIns="0" tIns="0" rIns="0" bIns="0" rtlCol="0" anchor="t"/>
          <a:lstStyle/>
          <a:p>
            <a:pPr algn="just">
              <a:lnSpc>
                <a:spcPts val="2850"/>
              </a:lnSpc>
            </a:pPr>
            <a:r>
              <a:rPr lang="en-US" sz="2000" dirty="0">
                <a:solidFill>
                  <a:srgbClr val="D6E5EF"/>
                </a:solidFill>
                <a:latin typeface="Roboto" pitchFamily="34" charset="0"/>
                <a:ea typeface="Roboto" pitchFamily="34" charset="-122"/>
                <a:cs typeface="Roboto" pitchFamily="34" charset="-120"/>
              </a:rPr>
              <a:t>Cyber crimes are illegal activities that are carried out using computers, digital devices, or the internet. These crimes target computer systems, networks, or data, or use them as tools to commit other offenses.</a:t>
            </a:r>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60932" y="1453274"/>
            <a:ext cx="8198069" cy="1417558"/>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Motivations Behind Cybercrime</a:t>
            </a:r>
            <a:endParaRPr lang="en-US" sz="4450" dirty="0"/>
          </a:p>
        </p:txBody>
      </p:sp>
      <p:pic>
        <p:nvPicPr>
          <p:cNvPr id="4" name="Image 1" descr="preencoded.png"/>
          <p:cNvPicPr>
            <a:picLocks noChangeAspect="1"/>
          </p:cNvPicPr>
          <p:nvPr/>
        </p:nvPicPr>
        <p:blipFill>
          <a:blip r:embed="rId4"/>
          <a:stretch>
            <a:fillRect/>
          </a:stretch>
        </p:blipFill>
        <p:spPr>
          <a:xfrm>
            <a:off x="793790" y="3671054"/>
            <a:ext cx="250627" cy="250627"/>
          </a:xfrm>
          <a:prstGeom prst="rect">
            <a:avLst/>
          </a:prstGeom>
        </p:spPr>
      </p:pic>
      <p:sp>
        <p:nvSpPr>
          <p:cNvPr id="5" name="Text 1"/>
          <p:cNvSpPr/>
          <p:nvPr/>
        </p:nvSpPr>
        <p:spPr>
          <a:xfrm>
            <a:off x="1271230" y="3631406"/>
            <a:ext cx="1814513" cy="708660"/>
          </a:xfrm>
          <a:prstGeom prst="rect">
            <a:avLst/>
          </a:prstGeom>
          <a:noFill/>
          <a:ln/>
        </p:spPr>
        <p:txBody>
          <a:bodyPr wrap="squar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Financial Gain</a:t>
            </a:r>
            <a:endParaRPr lang="en-US" sz="2200" dirty="0"/>
          </a:p>
        </p:txBody>
      </p:sp>
      <p:pic>
        <p:nvPicPr>
          <p:cNvPr id="6" name="Image 2" descr="preencoded.png"/>
          <p:cNvPicPr>
            <a:picLocks noChangeAspect="1"/>
          </p:cNvPicPr>
          <p:nvPr/>
        </p:nvPicPr>
        <p:blipFill>
          <a:blip r:embed="rId5"/>
          <a:stretch>
            <a:fillRect/>
          </a:stretch>
        </p:blipFill>
        <p:spPr>
          <a:xfrm>
            <a:off x="3425904" y="3671054"/>
            <a:ext cx="250746" cy="250746"/>
          </a:xfrm>
          <a:prstGeom prst="rect">
            <a:avLst/>
          </a:prstGeom>
        </p:spPr>
      </p:pic>
      <p:sp>
        <p:nvSpPr>
          <p:cNvPr id="7" name="Text 2"/>
          <p:cNvSpPr/>
          <p:nvPr/>
        </p:nvSpPr>
        <p:spPr>
          <a:xfrm>
            <a:off x="3903464" y="3631406"/>
            <a:ext cx="181451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Ideological</a:t>
            </a:r>
            <a:endParaRPr lang="en-US" sz="2200" dirty="0"/>
          </a:p>
        </p:txBody>
      </p:sp>
      <p:pic>
        <p:nvPicPr>
          <p:cNvPr id="8" name="Image 3" descr="preencoded.png"/>
          <p:cNvPicPr>
            <a:picLocks noChangeAspect="1"/>
          </p:cNvPicPr>
          <p:nvPr/>
        </p:nvPicPr>
        <p:blipFill>
          <a:blip r:embed="rId6"/>
          <a:stretch>
            <a:fillRect/>
          </a:stretch>
        </p:blipFill>
        <p:spPr>
          <a:xfrm>
            <a:off x="3426023" y="4882991"/>
            <a:ext cx="250627" cy="250627"/>
          </a:xfrm>
          <a:prstGeom prst="rect">
            <a:avLst/>
          </a:prstGeom>
        </p:spPr>
      </p:pic>
      <p:sp>
        <p:nvSpPr>
          <p:cNvPr id="9" name="Text 3"/>
          <p:cNvSpPr/>
          <p:nvPr/>
        </p:nvSpPr>
        <p:spPr>
          <a:xfrm>
            <a:off x="3903464" y="4882991"/>
            <a:ext cx="181451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Espionage</a:t>
            </a:r>
            <a:endParaRPr lang="en-US" sz="2200" dirty="0"/>
          </a:p>
        </p:txBody>
      </p:sp>
      <p:pic>
        <p:nvPicPr>
          <p:cNvPr id="10" name="Image 4" descr="preencoded.png"/>
          <p:cNvPicPr>
            <a:picLocks noChangeAspect="1"/>
          </p:cNvPicPr>
          <p:nvPr/>
        </p:nvPicPr>
        <p:blipFill>
          <a:blip r:embed="rId7"/>
          <a:stretch>
            <a:fillRect/>
          </a:stretch>
        </p:blipFill>
        <p:spPr>
          <a:xfrm>
            <a:off x="793790" y="4882991"/>
            <a:ext cx="250627" cy="250627"/>
          </a:xfrm>
          <a:prstGeom prst="rect">
            <a:avLst/>
          </a:prstGeom>
        </p:spPr>
      </p:pic>
      <p:sp>
        <p:nvSpPr>
          <p:cNvPr id="11" name="Text 4"/>
          <p:cNvSpPr/>
          <p:nvPr/>
        </p:nvSpPr>
        <p:spPr>
          <a:xfrm>
            <a:off x="1283196" y="4882991"/>
            <a:ext cx="181451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Personal</a:t>
            </a:r>
            <a:endParaRPr lang="en-US" sz="2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10314" y="2814858"/>
            <a:ext cx="8029932" cy="708779"/>
          </a:xfrm>
          <a:prstGeom prst="rect">
            <a:avLst/>
          </a:prstGeom>
          <a:noFill/>
          <a:ln/>
        </p:spPr>
        <p:txBody>
          <a:bodyPr wrap="none" lIns="0" tIns="0" rIns="0" bIns="0" rtlCol="0" anchor="t"/>
          <a:lstStyle/>
          <a:p>
            <a:pPr marL="0" indent="0" algn="ctr">
              <a:lnSpc>
                <a:spcPts val="5550"/>
              </a:lnSpc>
              <a:buNone/>
            </a:pPr>
            <a:r>
              <a:rPr lang="en-US" sz="4450" dirty="0">
                <a:solidFill>
                  <a:schemeClr val="accent5"/>
                </a:solidFill>
                <a:latin typeface="Roboto Slab" pitchFamily="34" charset="0"/>
                <a:ea typeface="Roboto Slab" pitchFamily="34" charset="-122"/>
                <a:cs typeface="Roboto Slab" pitchFamily="34" charset="-120"/>
              </a:rPr>
              <a:t>Types of </a:t>
            </a:r>
            <a:r>
              <a:rPr lang="en-US" sz="4450" dirty="0" smtClean="0">
                <a:solidFill>
                  <a:schemeClr val="accent5"/>
                </a:solidFill>
                <a:latin typeface="Roboto Slab" pitchFamily="34" charset="0"/>
                <a:ea typeface="Roboto Slab" pitchFamily="34" charset="-122"/>
                <a:cs typeface="Roboto Slab" pitchFamily="34" charset="-120"/>
              </a:rPr>
              <a:t>Cybercrime</a:t>
            </a:r>
            <a:endParaRPr lang="en-US" sz="4450" dirty="0">
              <a:solidFill>
                <a:schemeClr val="accent5"/>
              </a:solidFill>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8896" y="0"/>
            <a:ext cx="5591503" cy="82296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43595"/>
            <a:ext cx="7556421" cy="854750"/>
          </a:xfrm>
          <a:prstGeom prst="rect">
            <a:avLst/>
          </a:prstGeom>
          <a:noFill/>
          <a:ln/>
        </p:spPr>
        <p:txBody>
          <a:bodyPr wrap="square" lIns="0" tIns="0" rIns="0" bIns="0" rtlCol="0" anchor="t"/>
          <a:lstStyle/>
          <a:p>
            <a:pPr marL="0" indent="0" algn="l">
              <a:lnSpc>
                <a:spcPts val="5550"/>
              </a:lnSpc>
              <a:buNone/>
            </a:pPr>
            <a:r>
              <a:rPr lang="en-US" sz="4450" dirty="0" smtClean="0">
                <a:solidFill>
                  <a:schemeClr val="accent5"/>
                </a:solidFill>
                <a:latin typeface="Roboto Slab" pitchFamily="34" charset="0"/>
                <a:ea typeface="Roboto Slab" pitchFamily="34" charset="-122"/>
                <a:cs typeface="Roboto Slab" pitchFamily="34" charset="-120"/>
              </a:rPr>
              <a:t> 1. Phishing</a:t>
            </a:r>
            <a:endParaRPr lang="en-US" sz="4450" dirty="0">
              <a:solidFill>
                <a:schemeClr val="accent5"/>
              </a:solidFill>
            </a:endParaRPr>
          </a:p>
        </p:txBody>
      </p:sp>
      <p:sp>
        <p:nvSpPr>
          <p:cNvPr id="4" name="Shape 1"/>
          <p:cNvSpPr/>
          <p:nvPr/>
        </p:nvSpPr>
        <p:spPr>
          <a:xfrm>
            <a:off x="909404" y="1998345"/>
            <a:ext cx="7556421" cy="2416000"/>
          </a:xfrm>
          <a:prstGeom prst="roundRect">
            <a:avLst>
              <a:gd name="adj" fmla="val 1674"/>
            </a:avLst>
          </a:prstGeom>
          <a:solidFill>
            <a:srgbClr val="3F4652"/>
          </a:solidFill>
          <a:ln/>
        </p:spPr>
      </p:sp>
      <p:sp>
        <p:nvSpPr>
          <p:cNvPr id="6" name="Text 3"/>
          <p:cNvSpPr/>
          <p:nvPr/>
        </p:nvSpPr>
        <p:spPr>
          <a:xfrm>
            <a:off x="1020604" y="2084843"/>
            <a:ext cx="7329607" cy="2201407"/>
          </a:xfrm>
          <a:prstGeom prst="rect">
            <a:avLst/>
          </a:prstGeom>
          <a:noFill/>
          <a:ln/>
        </p:spPr>
        <p:txBody>
          <a:bodyPr wrap="square" lIns="0" tIns="0" rIns="0" bIns="0" rtlCol="0" anchor="t"/>
          <a:lstStyle/>
          <a:p>
            <a:pPr algn="just">
              <a:lnSpc>
                <a:spcPts val="2850"/>
              </a:lnSpc>
            </a:pPr>
            <a:r>
              <a:rPr lang="en-US" sz="1750" dirty="0">
                <a:solidFill>
                  <a:schemeClr val="bg1"/>
                </a:solidFill>
                <a:latin typeface="Roboto" pitchFamily="34" charset="0"/>
                <a:ea typeface="Roboto" pitchFamily="34" charset="-122"/>
                <a:cs typeface="Roboto" pitchFamily="34" charset="-120"/>
              </a:rPr>
              <a:t> A form of cybercrime wherein an individual or entity, through deceptive means, attempts to illicitly acquire sensitive information, including but not limited to passwords, financial data, or personal identifiers, by masquerading as a trustworthy or legitimate entity, often through electronic communication channels such as email, messaging platforms, or spoofed websites.</a:t>
            </a:r>
            <a:endParaRPr lang="en-US" sz="1750" dirty="0">
              <a:solidFill>
                <a:schemeClr val="bg1"/>
              </a:solidFill>
            </a:endParaRPr>
          </a:p>
        </p:txBody>
      </p:sp>
      <p:sp>
        <p:nvSpPr>
          <p:cNvPr id="10" name="Shape 7"/>
          <p:cNvSpPr/>
          <p:nvPr/>
        </p:nvSpPr>
        <p:spPr>
          <a:xfrm>
            <a:off x="909404" y="4734164"/>
            <a:ext cx="7556421" cy="1306949"/>
          </a:xfrm>
          <a:prstGeom prst="roundRect">
            <a:avLst>
              <a:gd name="adj" fmla="val 2603"/>
            </a:avLst>
          </a:prstGeom>
          <a:solidFill>
            <a:srgbClr val="3F4652"/>
          </a:solidFill>
          <a:ln/>
        </p:spPr>
      </p:sp>
      <p:sp>
        <p:nvSpPr>
          <p:cNvPr id="11" name="Text 8"/>
          <p:cNvSpPr/>
          <p:nvPr/>
        </p:nvSpPr>
        <p:spPr>
          <a:xfrm>
            <a:off x="1020604" y="477464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Example</a:t>
            </a:r>
            <a:endParaRPr lang="en-US" sz="2200" dirty="0"/>
          </a:p>
        </p:txBody>
      </p:sp>
      <p:sp>
        <p:nvSpPr>
          <p:cNvPr id="12" name="Text 9"/>
          <p:cNvSpPr/>
          <p:nvPr/>
        </p:nvSpPr>
        <p:spPr>
          <a:xfrm>
            <a:off x="1020603" y="5205761"/>
            <a:ext cx="7102793" cy="362903"/>
          </a:xfrm>
          <a:prstGeom prst="rect">
            <a:avLst/>
          </a:prstGeom>
          <a:noFill/>
          <a:ln/>
        </p:spPr>
        <p:txBody>
          <a:bodyPr wrap="none" lIns="0" tIns="0" rIns="0" bIns="0" rtlCol="0" anchor="t"/>
          <a:lstStyle/>
          <a:p>
            <a:pPr marL="0" indent="0" algn="l">
              <a:lnSpc>
                <a:spcPts val="2850"/>
              </a:lnSpc>
              <a:buNone/>
            </a:pPr>
            <a:r>
              <a:rPr lang="en-US" sz="1750" dirty="0">
                <a:solidFill>
                  <a:schemeClr val="bg1"/>
                </a:solidFill>
                <a:latin typeface="Roboto" pitchFamily="34" charset="0"/>
                <a:ea typeface="Roboto" pitchFamily="34" charset="-122"/>
                <a:cs typeface="Roboto" pitchFamily="34" charset="-120"/>
              </a:rPr>
              <a:t>The 2023 Twilio breach exposed customer data.</a:t>
            </a:r>
            <a:endParaRPr lang="en-US" sz="1750" dirty="0">
              <a:solidFill>
                <a:schemeClr val="bg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4262467505"/>
              </p:ext>
            </p:extLst>
          </p:nvPr>
        </p:nvGraphicFramePr>
        <p:xfrm>
          <a:off x="1177161" y="2406869"/>
          <a:ext cx="10909738" cy="39098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p:cNvSpPr txBox="1"/>
          <p:nvPr/>
        </p:nvSpPr>
        <p:spPr>
          <a:xfrm>
            <a:off x="1061547" y="2189055"/>
            <a:ext cx="5087006" cy="584775"/>
          </a:xfrm>
          <a:prstGeom prst="rect">
            <a:avLst/>
          </a:prstGeom>
          <a:noFill/>
        </p:spPr>
        <p:txBody>
          <a:bodyPr wrap="square" rtlCol="0">
            <a:spAutoFit/>
          </a:bodyPr>
          <a:lstStyle/>
          <a:p>
            <a:pPr algn="just"/>
            <a:r>
              <a:rPr lang="en-US" sz="3200" dirty="0">
                <a:solidFill>
                  <a:schemeClr val="accent5"/>
                </a:solidFill>
                <a:latin typeface="Roboto Slab" panose="020B0604020202020204" charset="0"/>
                <a:ea typeface="Roboto Slab" panose="020B0604020202020204" charset="0"/>
              </a:rPr>
              <a:t>Phishing Techniques</a:t>
            </a:r>
            <a:endParaRPr lang="en-GB" sz="3200" dirty="0">
              <a:solidFill>
                <a:schemeClr val="accent5"/>
              </a:solidFill>
              <a:latin typeface="Roboto Slab" panose="020B0604020202020204" charset="0"/>
              <a:ea typeface="Roboto Slab" panose="020B0604020202020204" charset="0"/>
            </a:endParaRPr>
          </a:p>
        </p:txBody>
      </p:sp>
      <p:sp>
        <p:nvSpPr>
          <p:cNvPr id="2" name="Rectangle 1"/>
          <p:cNvSpPr/>
          <p:nvPr/>
        </p:nvSpPr>
        <p:spPr>
          <a:xfrm>
            <a:off x="12812110" y="7630510"/>
            <a:ext cx="1734207" cy="493987"/>
          </a:xfrm>
          <a:prstGeom prst="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855992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3042" y="889635"/>
            <a:ext cx="7630716" cy="1351359"/>
          </a:xfrm>
          <a:prstGeom prst="rect">
            <a:avLst/>
          </a:prstGeom>
          <a:noFill/>
          <a:ln/>
        </p:spPr>
        <p:txBody>
          <a:bodyPr wrap="square" lIns="0" tIns="0" rIns="0" bIns="0" rtlCol="0" anchor="t"/>
          <a:lstStyle/>
          <a:p>
            <a:pPr marL="0" indent="0" algn="l">
              <a:lnSpc>
                <a:spcPts val="5300"/>
              </a:lnSpc>
              <a:buNone/>
            </a:pPr>
            <a:r>
              <a:rPr lang="en-US" sz="4250" dirty="0" smtClean="0">
                <a:solidFill>
                  <a:srgbClr val="76B9FF"/>
                </a:solidFill>
                <a:latin typeface="Roboto Slab" pitchFamily="34" charset="0"/>
                <a:ea typeface="Roboto Slab" pitchFamily="34" charset="-122"/>
                <a:cs typeface="Roboto Slab" pitchFamily="34" charset="-120"/>
              </a:rPr>
              <a:t>2. Malware</a:t>
            </a:r>
            <a:endParaRPr lang="en-US" sz="4250" dirty="0"/>
          </a:p>
        </p:txBody>
      </p:sp>
      <p:pic>
        <p:nvPicPr>
          <p:cNvPr id="4" name="Image 1" descr="preencoded.png"/>
          <p:cNvPicPr>
            <a:picLocks noChangeAspect="1"/>
          </p:cNvPicPr>
          <p:nvPr/>
        </p:nvPicPr>
        <p:blipFill>
          <a:blip r:embed="rId4"/>
          <a:stretch>
            <a:fillRect/>
          </a:stretch>
        </p:blipFill>
        <p:spPr>
          <a:xfrm>
            <a:off x="6243042" y="2565202"/>
            <a:ext cx="1080968" cy="1297186"/>
          </a:xfrm>
          <a:prstGeom prst="rect">
            <a:avLst/>
          </a:prstGeom>
        </p:spPr>
      </p:pic>
      <p:sp>
        <p:nvSpPr>
          <p:cNvPr id="5" name="Text 1"/>
          <p:cNvSpPr/>
          <p:nvPr/>
        </p:nvSpPr>
        <p:spPr>
          <a:xfrm>
            <a:off x="7648218" y="2781300"/>
            <a:ext cx="2702600" cy="337780"/>
          </a:xfrm>
          <a:prstGeom prst="rect">
            <a:avLst/>
          </a:prstGeom>
          <a:noFill/>
          <a:ln/>
        </p:spPr>
        <p:txBody>
          <a:bodyPr wrap="none" lIns="0" tIns="0" rIns="0" bIns="0" rtlCol="0" anchor="t"/>
          <a:lstStyle/>
          <a:p>
            <a:pPr marL="0" indent="0" algn="l">
              <a:lnSpc>
                <a:spcPts val="2650"/>
              </a:lnSpc>
              <a:buNone/>
            </a:pPr>
            <a:r>
              <a:rPr lang="en-US" sz="2100" dirty="0">
                <a:solidFill>
                  <a:srgbClr val="D6E5EF"/>
                </a:solidFill>
                <a:latin typeface="Roboto Slab" pitchFamily="34" charset="0"/>
                <a:ea typeface="Roboto Slab" pitchFamily="34" charset="-122"/>
                <a:cs typeface="Roboto Slab" pitchFamily="34" charset="-120"/>
              </a:rPr>
              <a:t>Malicious Software</a:t>
            </a:r>
            <a:endParaRPr lang="en-US" sz="2100" dirty="0"/>
          </a:p>
        </p:txBody>
      </p:sp>
      <p:sp>
        <p:nvSpPr>
          <p:cNvPr id="6" name="Text 2"/>
          <p:cNvSpPr/>
          <p:nvPr/>
        </p:nvSpPr>
        <p:spPr>
          <a:xfrm>
            <a:off x="7648218" y="3248739"/>
            <a:ext cx="6225540" cy="345877"/>
          </a:xfrm>
          <a:prstGeom prst="rect">
            <a:avLst/>
          </a:prstGeom>
          <a:noFill/>
          <a:ln/>
        </p:spPr>
        <p:txBody>
          <a:bodyPr wrap="none" lIns="0" tIns="0" rIns="0" bIns="0" rtlCol="0" anchor="t"/>
          <a:lstStyle/>
          <a:p>
            <a:pPr marL="0" indent="0" algn="l">
              <a:lnSpc>
                <a:spcPts val="2700"/>
              </a:lnSpc>
              <a:buNone/>
            </a:pPr>
            <a:r>
              <a:rPr lang="en-US" sz="1700" dirty="0">
                <a:solidFill>
                  <a:srgbClr val="D6E5EF"/>
                </a:solidFill>
                <a:latin typeface="Roboto" pitchFamily="34" charset="0"/>
                <a:ea typeface="Roboto" pitchFamily="34" charset="-122"/>
                <a:cs typeface="Roboto" pitchFamily="34" charset="-120"/>
              </a:rPr>
              <a:t>Malware includes viruses, worms, ransomware, and spyware.</a:t>
            </a:r>
            <a:endParaRPr lang="en-US" sz="1700" dirty="0"/>
          </a:p>
        </p:txBody>
      </p:sp>
      <p:pic>
        <p:nvPicPr>
          <p:cNvPr id="7" name="Image 2" descr="preencoded.png"/>
          <p:cNvPicPr>
            <a:picLocks noChangeAspect="1"/>
          </p:cNvPicPr>
          <p:nvPr/>
        </p:nvPicPr>
        <p:blipFill>
          <a:blip r:embed="rId5"/>
          <a:stretch>
            <a:fillRect/>
          </a:stretch>
        </p:blipFill>
        <p:spPr>
          <a:xfrm>
            <a:off x="6243042" y="3862388"/>
            <a:ext cx="1080968" cy="1591389"/>
          </a:xfrm>
          <a:prstGeom prst="rect">
            <a:avLst/>
          </a:prstGeom>
        </p:spPr>
      </p:pic>
      <p:sp>
        <p:nvSpPr>
          <p:cNvPr id="8" name="Text 3"/>
          <p:cNvSpPr/>
          <p:nvPr/>
        </p:nvSpPr>
        <p:spPr>
          <a:xfrm>
            <a:off x="7648218" y="4078486"/>
            <a:ext cx="2702600" cy="337780"/>
          </a:xfrm>
          <a:prstGeom prst="rect">
            <a:avLst/>
          </a:prstGeom>
          <a:noFill/>
          <a:ln/>
        </p:spPr>
        <p:txBody>
          <a:bodyPr wrap="none" lIns="0" tIns="0" rIns="0" bIns="0" rtlCol="0" anchor="t"/>
          <a:lstStyle/>
          <a:p>
            <a:pPr marL="0" indent="0" algn="l">
              <a:lnSpc>
                <a:spcPts val="2650"/>
              </a:lnSpc>
              <a:buNone/>
            </a:pPr>
            <a:r>
              <a:rPr lang="en-US" sz="2100" dirty="0">
                <a:solidFill>
                  <a:srgbClr val="D6E5EF"/>
                </a:solidFill>
                <a:latin typeface="Roboto Slab" pitchFamily="34" charset="0"/>
                <a:ea typeface="Roboto Slab" pitchFamily="34" charset="-122"/>
                <a:cs typeface="Roboto Slab" pitchFamily="34" charset="-120"/>
              </a:rPr>
              <a:t>Ransomware</a:t>
            </a:r>
            <a:endParaRPr lang="en-US" sz="2100" dirty="0"/>
          </a:p>
        </p:txBody>
      </p:sp>
      <p:sp>
        <p:nvSpPr>
          <p:cNvPr id="9" name="Text 4"/>
          <p:cNvSpPr/>
          <p:nvPr/>
        </p:nvSpPr>
        <p:spPr>
          <a:xfrm>
            <a:off x="7648218" y="4545925"/>
            <a:ext cx="6225540" cy="691753"/>
          </a:xfrm>
          <a:prstGeom prst="rect">
            <a:avLst/>
          </a:prstGeom>
          <a:noFill/>
          <a:ln/>
        </p:spPr>
        <p:txBody>
          <a:bodyPr wrap="square" lIns="0" tIns="0" rIns="0" bIns="0" rtlCol="0" anchor="t"/>
          <a:lstStyle/>
          <a:p>
            <a:pPr marL="0" indent="0" algn="l">
              <a:lnSpc>
                <a:spcPts val="2700"/>
              </a:lnSpc>
              <a:buNone/>
            </a:pPr>
            <a:r>
              <a:rPr lang="en-US" sz="1700" dirty="0">
                <a:solidFill>
                  <a:srgbClr val="D6E5EF"/>
                </a:solidFill>
                <a:latin typeface="Roboto" pitchFamily="34" charset="0"/>
                <a:ea typeface="Roboto" pitchFamily="34" charset="-122"/>
                <a:cs typeface="Roboto" pitchFamily="34" charset="-120"/>
              </a:rPr>
              <a:t>Ransomware encrypts data. Payment is demanded for its release.</a:t>
            </a:r>
            <a:endParaRPr lang="en-US" sz="1700" dirty="0"/>
          </a:p>
        </p:txBody>
      </p:sp>
      <p:pic>
        <p:nvPicPr>
          <p:cNvPr id="10" name="Image 3" descr="preencoded.png"/>
          <p:cNvPicPr>
            <a:picLocks noChangeAspect="1"/>
          </p:cNvPicPr>
          <p:nvPr/>
        </p:nvPicPr>
        <p:blipFill>
          <a:blip r:embed="rId6"/>
          <a:stretch>
            <a:fillRect/>
          </a:stretch>
        </p:blipFill>
        <p:spPr>
          <a:xfrm>
            <a:off x="6243042" y="5453777"/>
            <a:ext cx="1080968" cy="1297186"/>
          </a:xfrm>
          <a:prstGeom prst="rect">
            <a:avLst/>
          </a:prstGeom>
        </p:spPr>
      </p:pic>
      <p:sp>
        <p:nvSpPr>
          <p:cNvPr id="11" name="Text 5"/>
          <p:cNvSpPr/>
          <p:nvPr/>
        </p:nvSpPr>
        <p:spPr>
          <a:xfrm>
            <a:off x="7648218" y="5669875"/>
            <a:ext cx="2702600" cy="337780"/>
          </a:xfrm>
          <a:prstGeom prst="rect">
            <a:avLst/>
          </a:prstGeom>
          <a:noFill/>
          <a:ln/>
        </p:spPr>
        <p:txBody>
          <a:bodyPr wrap="none" lIns="0" tIns="0" rIns="0" bIns="0" rtlCol="0" anchor="t"/>
          <a:lstStyle/>
          <a:p>
            <a:pPr marL="0" indent="0" algn="l">
              <a:lnSpc>
                <a:spcPts val="2650"/>
              </a:lnSpc>
              <a:buNone/>
            </a:pPr>
            <a:r>
              <a:rPr lang="en-US" sz="2100" dirty="0">
                <a:solidFill>
                  <a:srgbClr val="D6E5EF"/>
                </a:solidFill>
                <a:latin typeface="Roboto Slab" pitchFamily="34" charset="0"/>
                <a:ea typeface="Roboto Slab" pitchFamily="34" charset="-122"/>
                <a:cs typeface="Roboto Slab" pitchFamily="34" charset="-120"/>
              </a:rPr>
              <a:t>Global Impact</a:t>
            </a:r>
            <a:endParaRPr lang="en-US" sz="2100" dirty="0"/>
          </a:p>
        </p:txBody>
      </p:sp>
      <p:sp>
        <p:nvSpPr>
          <p:cNvPr id="12" name="Text 6"/>
          <p:cNvSpPr/>
          <p:nvPr/>
        </p:nvSpPr>
        <p:spPr>
          <a:xfrm>
            <a:off x="7648218" y="6137315"/>
            <a:ext cx="6225540" cy="345877"/>
          </a:xfrm>
          <a:prstGeom prst="rect">
            <a:avLst/>
          </a:prstGeom>
          <a:noFill/>
          <a:ln/>
        </p:spPr>
        <p:txBody>
          <a:bodyPr wrap="none" lIns="0" tIns="0" rIns="0" bIns="0" rtlCol="0" anchor="t"/>
          <a:lstStyle/>
          <a:p>
            <a:pPr marL="0" indent="0" algn="l">
              <a:lnSpc>
                <a:spcPts val="2700"/>
              </a:lnSpc>
              <a:buNone/>
            </a:pPr>
            <a:r>
              <a:rPr lang="en-US" sz="1700" dirty="0">
                <a:solidFill>
                  <a:srgbClr val="D6E5EF"/>
                </a:solidFill>
                <a:latin typeface="Roboto" pitchFamily="34" charset="0"/>
                <a:ea typeface="Roboto" pitchFamily="34" charset="-122"/>
                <a:cs typeface="Roboto" pitchFamily="34" charset="-120"/>
              </a:rPr>
              <a:t>The 2017 WannaCry ransomware attack had a global impact.</a:t>
            </a:r>
            <a:endParaRPr lang="en-US" sz="1700" dirty="0"/>
          </a:p>
        </p:txBody>
      </p:sp>
      <p:sp>
        <p:nvSpPr>
          <p:cNvPr id="13" name="Text 7"/>
          <p:cNvSpPr/>
          <p:nvPr/>
        </p:nvSpPr>
        <p:spPr>
          <a:xfrm>
            <a:off x="6243042" y="6994088"/>
            <a:ext cx="7630716" cy="345877"/>
          </a:xfrm>
          <a:prstGeom prst="rect">
            <a:avLst/>
          </a:prstGeom>
          <a:noFill/>
          <a:ln/>
        </p:spPr>
        <p:txBody>
          <a:bodyPr wrap="none" lIns="0" tIns="0" rIns="0" bIns="0" rtlCol="0" anchor="t"/>
          <a:lstStyle/>
          <a:p>
            <a:pPr marL="0" indent="0" algn="l">
              <a:lnSpc>
                <a:spcPts val="2700"/>
              </a:lnSpc>
              <a:buNone/>
            </a:pPr>
            <a:r>
              <a:rPr lang="en-US" sz="1700" dirty="0">
                <a:solidFill>
                  <a:srgbClr val="D6E5EF"/>
                </a:solidFill>
                <a:latin typeface="Roboto" pitchFamily="34" charset="0"/>
                <a:ea typeface="Roboto" pitchFamily="34" charset="-122"/>
                <a:cs typeface="Roboto" pitchFamily="34" charset="-120"/>
              </a:rPr>
              <a:t>Malware caused around $20 billion in global losses in 2021.</a:t>
            </a:r>
            <a:endParaRPr lang="en-US" sz="1700" dirty="0"/>
          </a:p>
        </p:txBody>
      </p:sp>
      <p:sp>
        <p:nvSpPr>
          <p:cNvPr id="14" name="Rectangle 13"/>
          <p:cNvSpPr/>
          <p:nvPr/>
        </p:nvSpPr>
        <p:spPr>
          <a:xfrm>
            <a:off x="12812110" y="7767145"/>
            <a:ext cx="1734207" cy="388883"/>
          </a:xfrm>
          <a:prstGeom prst="rect">
            <a:avLst/>
          </a:prstGeom>
          <a:solidFill>
            <a:srgbClr val="202733"/>
          </a:solidFill>
          <a:ln>
            <a:solidFill>
              <a:srgbClr val="20273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08083" y="1429407"/>
            <a:ext cx="7031420" cy="777136"/>
          </a:xfrm>
          <a:prstGeom prst="rect">
            <a:avLst/>
          </a:prstGeom>
          <a:noFill/>
        </p:spPr>
        <p:txBody>
          <a:bodyPr wrap="square" rtlCol="0">
            <a:spAutoFit/>
          </a:bodyPr>
          <a:lstStyle/>
          <a:p>
            <a:r>
              <a:rPr lang="en-US" sz="4450" dirty="0" smtClean="0">
                <a:solidFill>
                  <a:schemeClr val="accent5"/>
                </a:solidFill>
                <a:latin typeface="Roboto Slab" panose="020B0604020202020204" charset="0"/>
                <a:ea typeface="Roboto Slab" panose="020B0604020202020204" charset="0"/>
              </a:rPr>
              <a:t>3. Hacking</a:t>
            </a:r>
            <a:endParaRPr lang="en-GB" sz="4450" dirty="0">
              <a:solidFill>
                <a:schemeClr val="accent5"/>
              </a:solidFill>
              <a:latin typeface="Roboto Slab" panose="020B0604020202020204" charset="0"/>
              <a:ea typeface="Roboto Slab" panose="020B0604020202020204" charset="0"/>
            </a:endParaRPr>
          </a:p>
        </p:txBody>
      </p:sp>
      <p:sp>
        <p:nvSpPr>
          <p:cNvPr id="3" name="TextBox 2"/>
          <p:cNvSpPr txBox="1"/>
          <p:nvPr/>
        </p:nvSpPr>
        <p:spPr>
          <a:xfrm>
            <a:off x="1608083" y="2459421"/>
            <a:ext cx="7273158" cy="2554545"/>
          </a:xfrm>
          <a:prstGeom prst="rect">
            <a:avLst/>
          </a:prstGeom>
          <a:noFill/>
        </p:spPr>
        <p:txBody>
          <a:bodyPr wrap="square" rtlCol="0">
            <a:spAutoFit/>
          </a:bodyPr>
          <a:lstStyle/>
          <a:p>
            <a:pPr algn="just"/>
            <a:r>
              <a:rPr lang="en-US" sz="2000" dirty="0">
                <a:solidFill>
                  <a:schemeClr val="bg1"/>
                </a:solidFill>
                <a:latin typeface="Roboto" panose="020B0604020202020204" charset="0"/>
                <a:ea typeface="Roboto" panose="020B0604020202020204" charset="0"/>
              </a:rPr>
              <a:t> Unauthorized access, modification, or manipulation of computer systems, networks, or data, often with malicious intent, compromising the security, integrity, or confidentiality of such systems or </a:t>
            </a:r>
            <a:r>
              <a:rPr lang="en-US" sz="2000" dirty="0" smtClean="0">
                <a:solidFill>
                  <a:schemeClr val="bg1"/>
                </a:solidFill>
                <a:latin typeface="Roboto" panose="020B0604020202020204" charset="0"/>
                <a:ea typeface="Roboto" panose="020B0604020202020204" charset="0"/>
              </a:rPr>
              <a:t>data</a:t>
            </a:r>
          </a:p>
          <a:p>
            <a:pPr algn="just"/>
            <a:endParaRPr lang="en-US" sz="2000" dirty="0">
              <a:solidFill>
                <a:schemeClr val="bg1"/>
              </a:solidFill>
              <a:latin typeface="Roboto" panose="020B0604020202020204" charset="0"/>
              <a:ea typeface="Roboto" panose="020B0604020202020204" charset="0"/>
            </a:endParaRPr>
          </a:p>
          <a:p>
            <a:pPr marL="342900" indent="-342900" algn="just">
              <a:buFont typeface="Arial" panose="020B0604020202020204" pitchFamily="34" charset="0"/>
              <a:buChar char="•"/>
            </a:pPr>
            <a:r>
              <a:rPr lang="en-GB" sz="2000" dirty="0">
                <a:solidFill>
                  <a:schemeClr val="bg1"/>
                </a:solidFill>
                <a:latin typeface="Roboto" panose="020B0604020202020204" charset="0"/>
                <a:ea typeface="Roboto" panose="020B0604020202020204" charset="0"/>
              </a:rPr>
              <a:t>Website Hacking</a:t>
            </a:r>
          </a:p>
          <a:p>
            <a:pPr marL="342900" indent="-342900" algn="just">
              <a:buFont typeface="Arial" panose="020B0604020202020204" pitchFamily="34" charset="0"/>
              <a:buChar char="•"/>
            </a:pPr>
            <a:r>
              <a:rPr lang="en-GB" sz="2000" dirty="0">
                <a:solidFill>
                  <a:schemeClr val="bg1"/>
                </a:solidFill>
                <a:latin typeface="Roboto" panose="020B0604020202020204" charset="0"/>
                <a:ea typeface="Roboto" panose="020B0604020202020204" charset="0"/>
              </a:rPr>
              <a:t>Cyber Terrorism</a:t>
            </a:r>
          </a:p>
          <a:p>
            <a:pPr marL="342900" indent="-342900" algn="just">
              <a:buFont typeface="Arial" panose="020B0604020202020204" pitchFamily="34" charset="0"/>
              <a:buChar char="•"/>
            </a:pPr>
            <a:r>
              <a:rPr lang="en-GB" sz="2000" dirty="0">
                <a:solidFill>
                  <a:schemeClr val="bg1"/>
                </a:solidFill>
                <a:latin typeface="Roboto" panose="020B0604020202020204" charset="0"/>
                <a:ea typeface="Roboto" panose="020B0604020202020204" charset="0"/>
              </a:rPr>
              <a:t>Cyber Espionage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5021" y="0"/>
            <a:ext cx="5465379" cy="8229600"/>
          </a:xfrm>
          <a:prstGeom prst="rect">
            <a:avLst/>
          </a:prstGeom>
        </p:spPr>
      </p:pic>
    </p:spTree>
    <p:extLst>
      <p:ext uri="{BB962C8B-B14F-4D97-AF65-F5344CB8AC3E}">
        <p14:creationId xmlns:p14="http://schemas.microsoft.com/office/powerpoint/2010/main" val="1988209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8386" y="947833"/>
            <a:ext cx="5349765" cy="584775"/>
          </a:xfrm>
          <a:prstGeom prst="rect">
            <a:avLst/>
          </a:prstGeom>
          <a:noFill/>
        </p:spPr>
        <p:txBody>
          <a:bodyPr wrap="square" rtlCol="0">
            <a:spAutoFit/>
          </a:bodyPr>
          <a:lstStyle/>
          <a:p>
            <a:r>
              <a:rPr lang="en-US" sz="3200" dirty="0" smtClean="0">
                <a:solidFill>
                  <a:schemeClr val="accent5"/>
                </a:solidFill>
                <a:latin typeface="Roboto Slab" panose="020B0604020202020204" charset="0"/>
                <a:ea typeface="Roboto Slab" panose="020B0604020202020204" charset="0"/>
              </a:rPr>
              <a:t>Types of hacking</a:t>
            </a:r>
            <a:endParaRPr lang="en-GB" sz="3200" dirty="0">
              <a:solidFill>
                <a:schemeClr val="accent5"/>
              </a:solidFill>
              <a:latin typeface="Roboto Slab" panose="020B0604020202020204" charset="0"/>
              <a:ea typeface="Roboto Slab" panose="020B0604020202020204" charset="0"/>
            </a:endParaRPr>
          </a:p>
        </p:txBody>
      </p:sp>
      <p:sp>
        <p:nvSpPr>
          <p:cNvPr id="4" name="TextBox 3"/>
          <p:cNvSpPr txBox="1"/>
          <p:nvPr/>
        </p:nvSpPr>
        <p:spPr>
          <a:xfrm>
            <a:off x="1408386" y="1796604"/>
            <a:ext cx="11824138" cy="1015663"/>
          </a:xfrm>
          <a:prstGeom prst="rect">
            <a:avLst/>
          </a:prstGeom>
          <a:noFill/>
        </p:spPr>
        <p:txBody>
          <a:bodyPr wrap="square" rtlCol="0">
            <a:spAutoFit/>
          </a:bodyPr>
          <a:lstStyle/>
          <a:p>
            <a:pPr algn="just"/>
            <a:r>
              <a:rPr lang="en-US" sz="2000" dirty="0">
                <a:solidFill>
                  <a:schemeClr val="bg1"/>
                </a:solidFill>
                <a:latin typeface="Roboto" panose="020B0604020202020204" charset="0"/>
                <a:ea typeface="Roboto" panose="020B0604020202020204" charset="0"/>
              </a:rPr>
              <a:t>In the context of ethical considerations, hacking can be categorized into different types based on the hacker's intent:​</a:t>
            </a:r>
          </a:p>
          <a:p>
            <a:pPr algn="just"/>
            <a:endParaRPr lang="en-US" sz="2000" dirty="0">
              <a:solidFill>
                <a:schemeClr val="bg1"/>
              </a:solidFill>
              <a:latin typeface="Roboto" panose="020B0604020202020204" charset="0"/>
              <a:ea typeface="Roboto" panose="020B0604020202020204" charset="0"/>
            </a:endParaRPr>
          </a:p>
        </p:txBody>
      </p:sp>
      <p:graphicFrame>
        <p:nvGraphicFramePr>
          <p:cNvPr id="8" name="Diagram 7"/>
          <p:cNvGraphicFramePr/>
          <p:nvPr>
            <p:extLst>
              <p:ext uri="{D42A27DB-BD31-4B8C-83A1-F6EECF244321}">
                <p14:modId xmlns:p14="http://schemas.microsoft.com/office/powerpoint/2010/main" val="483680606"/>
              </p:ext>
            </p:extLst>
          </p:nvPr>
        </p:nvGraphicFramePr>
        <p:xfrm>
          <a:off x="1408386" y="3228146"/>
          <a:ext cx="11824138" cy="4328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1"/>
          <p:cNvSpPr/>
          <p:nvPr/>
        </p:nvSpPr>
        <p:spPr>
          <a:xfrm>
            <a:off x="12780579" y="7735614"/>
            <a:ext cx="1723697" cy="493986"/>
          </a:xfrm>
          <a:prstGeom prst="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544789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4076" y="1088020"/>
            <a:ext cx="5335929" cy="777136"/>
          </a:xfrm>
          <a:prstGeom prst="rect">
            <a:avLst/>
          </a:prstGeom>
          <a:noFill/>
        </p:spPr>
        <p:txBody>
          <a:bodyPr wrap="square" rtlCol="0">
            <a:spAutoFit/>
          </a:bodyPr>
          <a:lstStyle/>
          <a:p>
            <a:r>
              <a:rPr lang="en-US" sz="4450" dirty="0" smtClean="0">
                <a:solidFill>
                  <a:schemeClr val="accent5"/>
                </a:solidFill>
                <a:latin typeface="Roboto Slab" panose="020B0604020202020204" charset="0"/>
                <a:ea typeface="Roboto Slab" panose="020B0604020202020204" charset="0"/>
              </a:rPr>
              <a:t>4. Cyber Stalking</a:t>
            </a:r>
            <a:endParaRPr lang="en-GB" sz="4450" dirty="0">
              <a:solidFill>
                <a:schemeClr val="accent5"/>
              </a:solidFill>
              <a:latin typeface="Roboto Slab" panose="020B0604020202020204" charset="0"/>
              <a:ea typeface="Roboto Slab" panose="020B0604020202020204" charset="0"/>
            </a:endParaRPr>
          </a:p>
        </p:txBody>
      </p:sp>
      <p:sp>
        <p:nvSpPr>
          <p:cNvPr id="3" name="TextBox 2"/>
          <p:cNvSpPr txBox="1"/>
          <p:nvPr/>
        </p:nvSpPr>
        <p:spPr>
          <a:xfrm>
            <a:off x="1932972" y="2511706"/>
            <a:ext cx="11551534" cy="4401205"/>
          </a:xfrm>
          <a:prstGeom prst="rect">
            <a:avLst/>
          </a:prstGeom>
          <a:noFill/>
        </p:spPr>
        <p:txBody>
          <a:bodyPr wrap="square" rtlCol="0">
            <a:spAutoFit/>
          </a:bodyPr>
          <a:lstStyle/>
          <a:p>
            <a:pPr algn="just"/>
            <a:r>
              <a:rPr lang="en-US" sz="2000" dirty="0">
                <a:solidFill>
                  <a:schemeClr val="bg1"/>
                </a:solidFill>
                <a:latin typeface="Roboto" panose="020B0604020202020204" charset="0"/>
                <a:ea typeface="Roboto" panose="020B0604020202020204" charset="0"/>
              </a:rPr>
              <a:t>Cyberstalking is the use of the internet or other digital technologies to harass, threaten, or intimidate someone repeatedly and persistently.</a:t>
            </a:r>
          </a:p>
          <a:p>
            <a:pPr algn="just"/>
            <a:endParaRPr lang="en-US" sz="2000" dirty="0" smtClean="0">
              <a:solidFill>
                <a:schemeClr val="bg1"/>
              </a:solidFill>
              <a:latin typeface="Roboto" panose="020B0604020202020204" charset="0"/>
              <a:ea typeface="Roboto" panose="020B0604020202020204" charset="0"/>
            </a:endParaRPr>
          </a:p>
          <a:p>
            <a:pPr marL="285750" indent="-285750" algn="just">
              <a:buFont typeface="Arial" panose="020B0604020202020204" pitchFamily="34" charset="0"/>
              <a:buChar char="•"/>
            </a:pPr>
            <a:r>
              <a:rPr lang="en-US" sz="2000" dirty="0" smtClean="0">
                <a:solidFill>
                  <a:schemeClr val="bg1"/>
                </a:solidFill>
                <a:latin typeface="Roboto" panose="020B0604020202020204" charset="0"/>
                <a:ea typeface="Roboto" panose="020B0604020202020204" charset="0"/>
              </a:rPr>
              <a:t>Involves </a:t>
            </a:r>
            <a:r>
              <a:rPr lang="en-US" sz="2000" dirty="0">
                <a:solidFill>
                  <a:schemeClr val="bg1"/>
                </a:solidFill>
                <a:latin typeface="Roboto" panose="020B0604020202020204" charset="0"/>
                <a:ea typeface="Roboto" panose="020B0604020202020204" charset="0"/>
              </a:rPr>
              <a:t>unwanted and obsessive attention online.</a:t>
            </a:r>
          </a:p>
          <a:p>
            <a:pPr marL="285750" indent="-285750" algn="just">
              <a:buFont typeface="Arial" panose="020B0604020202020204" pitchFamily="34" charset="0"/>
              <a:buChar char="•"/>
            </a:pPr>
            <a:endParaRPr lang="en-US" sz="2000" dirty="0" smtClean="0">
              <a:solidFill>
                <a:schemeClr val="bg1"/>
              </a:solidFill>
              <a:latin typeface="Roboto" panose="020B0604020202020204" charset="0"/>
              <a:ea typeface="Roboto" panose="020B0604020202020204" charset="0"/>
            </a:endParaRPr>
          </a:p>
          <a:p>
            <a:pPr marL="285750" indent="-285750" algn="just">
              <a:buFont typeface="Arial" panose="020B0604020202020204" pitchFamily="34" charset="0"/>
              <a:buChar char="•"/>
            </a:pPr>
            <a:r>
              <a:rPr lang="en-US" sz="2000" dirty="0" smtClean="0">
                <a:solidFill>
                  <a:schemeClr val="bg1"/>
                </a:solidFill>
                <a:latin typeface="Roboto" panose="020B0604020202020204" charset="0"/>
                <a:ea typeface="Roboto" panose="020B0604020202020204" charset="0"/>
              </a:rPr>
              <a:t>May </a:t>
            </a:r>
            <a:r>
              <a:rPr lang="en-US" sz="2000" dirty="0">
                <a:solidFill>
                  <a:schemeClr val="bg1"/>
                </a:solidFill>
                <a:latin typeface="Roboto" panose="020B0604020202020204" charset="0"/>
                <a:ea typeface="Roboto" panose="020B0604020202020204" charset="0"/>
              </a:rPr>
              <a:t>include sending threatening messages, spreading false information, or monitoring someone's online activities.</a:t>
            </a:r>
          </a:p>
          <a:p>
            <a:pPr marL="285750" indent="-285750" algn="just">
              <a:buFont typeface="Arial" panose="020B0604020202020204" pitchFamily="34" charset="0"/>
              <a:buChar char="•"/>
            </a:pPr>
            <a:endParaRPr lang="en-US" sz="2000" dirty="0">
              <a:solidFill>
                <a:schemeClr val="bg1"/>
              </a:solidFill>
              <a:latin typeface="Roboto" panose="020B0604020202020204" charset="0"/>
              <a:ea typeface="Roboto" panose="020B0604020202020204" charset="0"/>
            </a:endParaRPr>
          </a:p>
          <a:p>
            <a:pPr marL="285750" indent="-285750" algn="just">
              <a:buFont typeface="Arial" panose="020B0604020202020204" pitchFamily="34" charset="0"/>
              <a:buChar char="•"/>
            </a:pPr>
            <a:r>
              <a:rPr lang="en-US" sz="2000" dirty="0">
                <a:solidFill>
                  <a:schemeClr val="bg1"/>
                </a:solidFill>
                <a:latin typeface="Roboto" panose="020B0604020202020204" charset="0"/>
                <a:ea typeface="Roboto" panose="020B0604020202020204" charset="0"/>
              </a:rPr>
              <a:t>Often happens through email, social media, messaging apps, or other digital platforms.</a:t>
            </a:r>
          </a:p>
          <a:p>
            <a:pPr marL="285750" indent="-285750" algn="just">
              <a:buFont typeface="Arial" panose="020B0604020202020204" pitchFamily="34" charset="0"/>
              <a:buChar char="•"/>
            </a:pPr>
            <a:endParaRPr lang="en-US" sz="2000" dirty="0">
              <a:solidFill>
                <a:schemeClr val="bg1"/>
              </a:solidFill>
              <a:latin typeface="Roboto" panose="020B0604020202020204" charset="0"/>
              <a:ea typeface="Roboto" panose="020B0604020202020204" charset="0"/>
            </a:endParaRPr>
          </a:p>
          <a:p>
            <a:pPr marL="285750" indent="-285750" algn="just">
              <a:buFont typeface="Arial" panose="020B0604020202020204" pitchFamily="34" charset="0"/>
              <a:buChar char="•"/>
            </a:pPr>
            <a:r>
              <a:rPr lang="en-US" sz="2000" dirty="0">
                <a:solidFill>
                  <a:schemeClr val="bg1"/>
                </a:solidFill>
                <a:latin typeface="Roboto" panose="020B0604020202020204" charset="0"/>
                <a:ea typeface="Roboto" panose="020B0604020202020204" charset="0"/>
              </a:rPr>
              <a:t>Can cause serious emotional distress or fear in the victim.</a:t>
            </a:r>
          </a:p>
          <a:p>
            <a:pPr algn="just"/>
            <a:endParaRPr lang="en-US" sz="2000" dirty="0">
              <a:solidFill>
                <a:schemeClr val="bg1"/>
              </a:solidFill>
              <a:latin typeface="Roboto" panose="020B0604020202020204" charset="0"/>
              <a:ea typeface="Roboto" panose="020B0604020202020204" charset="0"/>
            </a:endParaRPr>
          </a:p>
          <a:p>
            <a:pPr algn="just"/>
            <a:r>
              <a:rPr lang="en-US" sz="2000" dirty="0">
                <a:solidFill>
                  <a:schemeClr val="bg1"/>
                </a:solidFill>
                <a:latin typeface="Roboto" panose="020B0604020202020204" charset="0"/>
                <a:ea typeface="Roboto" panose="020B0604020202020204" charset="0"/>
              </a:rPr>
              <a:t>Cyberstalking is considered a serious form of online harassment and is punishable under cybercrime laws in many countries.</a:t>
            </a:r>
            <a:endParaRPr lang="en-GB" sz="2000" dirty="0">
              <a:solidFill>
                <a:schemeClr val="bg1"/>
              </a:solidFill>
              <a:latin typeface="Roboto" panose="020B0604020202020204" charset="0"/>
              <a:ea typeface="Roboto" panose="020B0604020202020204" charset="0"/>
            </a:endParaRPr>
          </a:p>
        </p:txBody>
      </p:sp>
      <p:sp>
        <p:nvSpPr>
          <p:cNvPr id="4" name="Rectangle 3"/>
          <p:cNvSpPr/>
          <p:nvPr/>
        </p:nvSpPr>
        <p:spPr>
          <a:xfrm>
            <a:off x="12822621" y="7651531"/>
            <a:ext cx="1807779" cy="578069"/>
          </a:xfrm>
          <a:prstGeom prst="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977039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51109"/>
            <a:ext cx="5761196"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Impact of Cybercrime</a:t>
            </a:r>
            <a:endParaRPr lang="en-US" sz="4450" dirty="0"/>
          </a:p>
        </p:txBody>
      </p:sp>
      <p:sp>
        <p:nvSpPr>
          <p:cNvPr id="3" name="Text 1"/>
          <p:cNvSpPr/>
          <p:nvPr/>
        </p:nvSpPr>
        <p:spPr>
          <a:xfrm>
            <a:off x="1857256" y="3042999"/>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D6E5EF"/>
                </a:solidFill>
                <a:latin typeface="Roboto Slab" pitchFamily="34" charset="0"/>
                <a:ea typeface="Roboto Slab" pitchFamily="34" charset="-122"/>
                <a:cs typeface="Roboto Slab" pitchFamily="34" charset="-120"/>
              </a:rPr>
              <a:t>Financial Losses</a:t>
            </a:r>
            <a:endParaRPr lang="en-US" sz="2200" dirty="0"/>
          </a:p>
        </p:txBody>
      </p:sp>
      <p:sp>
        <p:nvSpPr>
          <p:cNvPr id="4" name="Text 2"/>
          <p:cNvSpPr/>
          <p:nvPr/>
        </p:nvSpPr>
        <p:spPr>
          <a:xfrm>
            <a:off x="793790" y="3533418"/>
            <a:ext cx="3898702" cy="362903"/>
          </a:xfrm>
          <a:prstGeom prst="rect">
            <a:avLst/>
          </a:prstGeom>
          <a:noFill/>
          <a:ln/>
        </p:spPr>
        <p:txBody>
          <a:bodyPr wrap="none" lIns="0" tIns="0" rIns="0" bIns="0" rtlCol="0" anchor="t"/>
          <a:lstStyle/>
          <a:p>
            <a:pPr marL="0" indent="0" algn="r">
              <a:lnSpc>
                <a:spcPts val="2850"/>
              </a:lnSpc>
              <a:buNone/>
            </a:pPr>
            <a:r>
              <a:rPr lang="en-US" sz="1750" dirty="0">
                <a:solidFill>
                  <a:srgbClr val="D6E5EF"/>
                </a:solidFill>
                <a:latin typeface="Roboto" pitchFamily="34" charset="0"/>
                <a:ea typeface="Roboto" pitchFamily="34" charset="-122"/>
                <a:cs typeface="Roboto" pitchFamily="34" charset="-120"/>
              </a:rPr>
              <a:t>Direct and recovery costs</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sp>
        <p:nvSpPr>
          <p:cNvPr id="6" name="Text 3"/>
          <p:cNvSpPr/>
          <p:nvPr/>
        </p:nvSpPr>
        <p:spPr>
          <a:xfrm>
            <a:off x="6226731" y="3176588"/>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1</a:t>
            </a:r>
            <a:endParaRPr lang="en-US" sz="2650" dirty="0"/>
          </a:p>
        </p:txBody>
      </p:sp>
      <p:sp>
        <p:nvSpPr>
          <p:cNvPr id="7" name="Text 4"/>
          <p:cNvSpPr/>
          <p:nvPr/>
        </p:nvSpPr>
        <p:spPr>
          <a:xfrm>
            <a:off x="9937790" y="3042999"/>
            <a:ext cx="2864048"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Reputational Damage</a:t>
            </a:r>
            <a:endParaRPr lang="en-US" sz="2200" dirty="0"/>
          </a:p>
        </p:txBody>
      </p:sp>
      <p:sp>
        <p:nvSpPr>
          <p:cNvPr id="8" name="Text 5"/>
          <p:cNvSpPr/>
          <p:nvPr/>
        </p:nvSpPr>
        <p:spPr>
          <a:xfrm>
            <a:off x="9937790" y="3533418"/>
            <a:ext cx="389882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Loss of customer trust</a:t>
            </a:r>
            <a:endParaRPr lang="en-US" sz="1750" dirty="0"/>
          </a:p>
        </p:txBody>
      </p:sp>
      <p:pic>
        <p:nvPicPr>
          <p:cNvPr id="9" name="Image 1" descr="preencoded.png"/>
          <p:cNvPicPr>
            <a:picLocks noChangeAspect="1"/>
          </p:cNvPicPr>
          <p:nvPr/>
        </p:nvPicPr>
        <p:blipFill>
          <a:blip r:embed="rId4"/>
          <a:stretch>
            <a:fillRect/>
          </a:stretch>
        </p:blipFill>
        <p:spPr>
          <a:xfrm>
            <a:off x="5032653" y="2413516"/>
            <a:ext cx="4564975" cy="4564975"/>
          </a:xfrm>
          <a:prstGeom prst="rect">
            <a:avLst/>
          </a:prstGeom>
        </p:spPr>
      </p:pic>
      <p:sp>
        <p:nvSpPr>
          <p:cNvPr id="10" name="Text 6"/>
          <p:cNvSpPr/>
          <p:nvPr/>
        </p:nvSpPr>
        <p:spPr>
          <a:xfrm>
            <a:off x="8452604" y="3565088"/>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2</a:t>
            </a:r>
            <a:endParaRPr lang="en-US" sz="2650" dirty="0"/>
          </a:p>
        </p:txBody>
      </p:sp>
      <p:sp>
        <p:nvSpPr>
          <p:cNvPr id="11" name="Text 7"/>
          <p:cNvSpPr/>
          <p:nvPr/>
        </p:nvSpPr>
        <p:spPr>
          <a:xfrm>
            <a:off x="9937790" y="54955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Data Breaches</a:t>
            </a:r>
            <a:endParaRPr lang="en-US" sz="2200" dirty="0"/>
          </a:p>
        </p:txBody>
      </p:sp>
      <p:sp>
        <p:nvSpPr>
          <p:cNvPr id="12" name="Text 8"/>
          <p:cNvSpPr/>
          <p:nvPr/>
        </p:nvSpPr>
        <p:spPr>
          <a:xfrm>
            <a:off x="9937790" y="5985986"/>
            <a:ext cx="389882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Exposure of sensitive info</a:t>
            </a:r>
            <a:endParaRPr lang="en-US" sz="1750" dirty="0"/>
          </a:p>
        </p:txBody>
      </p:sp>
      <p:pic>
        <p:nvPicPr>
          <p:cNvPr id="13" name="Image 2" descr="preencoded.png"/>
          <p:cNvPicPr>
            <a:picLocks noChangeAspect="1"/>
          </p:cNvPicPr>
          <p:nvPr/>
        </p:nvPicPr>
        <p:blipFill>
          <a:blip r:embed="rId5"/>
          <a:stretch>
            <a:fillRect/>
          </a:stretch>
        </p:blipFill>
        <p:spPr>
          <a:xfrm>
            <a:off x="5032653" y="2413516"/>
            <a:ext cx="4564975" cy="4564975"/>
          </a:xfrm>
          <a:prstGeom prst="rect">
            <a:avLst/>
          </a:prstGeom>
        </p:spPr>
      </p:pic>
      <p:sp>
        <p:nvSpPr>
          <p:cNvPr id="14" name="Text 9"/>
          <p:cNvSpPr/>
          <p:nvPr/>
        </p:nvSpPr>
        <p:spPr>
          <a:xfrm>
            <a:off x="8064103" y="5790962"/>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3</a:t>
            </a:r>
            <a:endParaRPr lang="en-US" sz="2650" dirty="0"/>
          </a:p>
        </p:txBody>
      </p:sp>
      <p:sp>
        <p:nvSpPr>
          <p:cNvPr id="15" name="Text 10"/>
          <p:cNvSpPr/>
          <p:nvPr/>
        </p:nvSpPr>
        <p:spPr>
          <a:xfrm>
            <a:off x="1655207" y="5495568"/>
            <a:ext cx="3037284" cy="354330"/>
          </a:xfrm>
          <a:prstGeom prst="rect">
            <a:avLst/>
          </a:prstGeom>
          <a:noFill/>
          <a:ln/>
        </p:spPr>
        <p:txBody>
          <a:bodyPr wrap="none" lIns="0" tIns="0" rIns="0" bIns="0" rtlCol="0" anchor="t"/>
          <a:lstStyle/>
          <a:p>
            <a:pPr marL="0" indent="0" algn="r">
              <a:lnSpc>
                <a:spcPts val="2750"/>
              </a:lnSpc>
              <a:buNone/>
            </a:pPr>
            <a:r>
              <a:rPr lang="en-US" sz="2200" dirty="0">
                <a:solidFill>
                  <a:srgbClr val="D6E5EF"/>
                </a:solidFill>
                <a:latin typeface="Roboto Slab" pitchFamily="34" charset="0"/>
                <a:ea typeface="Roboto Slab" pitchFamily="34" charset="-122"/>
                <a:cs typeface="Roboto Slab" pitchFamily="34" charset="-120"/>
              </a:rPr>
              <a:t>Operational Disruption</a:t>
            </a:r>
            <a:endParaRPr lang="en-US" sz="2200" dirty="0"/>
          </a:p>
        </p:txBody>
      </p:sp>
      <p:sp>
        <p:nvSpPr>
          <p:cNvPr id="16" name="Text 11"/>
          <p:cNvSpPr/>
          <p:nvPr/>
        </p:nvSpPr>
        <p:spPr>
          <a:xfrm>
            <a:off x="793790" y="5985986"/>
            <a:ext cx="3898702" cy="362903"/>
          </a:xfrm>
          <a:prstGeom prst="rect">
            <a:avLst/>
          </a:prstGeom>
          <a:noFill/>
          <a:ln/>
        </p:spPr>
        <p:txBody>
          <a:bodyPr wrap="none" lIns="0" tIns="0" rIns="0" bIns="0" rtlCol="0" anchor="t"/>
          <a:lstStyle/>
          <a:p>
            <a:pPr marL="0" indent="0" algn="r">
              <a:lnSpc>
                <a:spcPts val="2850"/>
              </a:lnSpc>
              <a:buNone/>
            </a:pPr>
            <a:r>
              <a:rPr lang="en-US" sz="1750" dirty="0">
                <a:solidFill>
                  <a:srgbClr val="D6E5EF"/>
                </a:solidFill>
                <a:latin typeface="Roboto" pitchFamily="34" charset="0"/>
                <a:ea typeface="Roboto" pitchFamily="34" charset="-122"/>
                <a:cs typeface="Roboto" pitchFamily="34" charset="-120"/>
              </a:rPr>
              <a:t>Downtime, productivity loss</a:t>
            </a:r>
            <a:endParaRPr lang="en-US" sz="1750" dirty="0"/>
          </a:p>
        </p:txBody>
      </p:sp>
      <p:pic>
        <p:nvPicPr>
          <p:cNvPr id="17" name="Image 3" descr="preencoded.png"/>
          <p:cNvPicPr>
            <a:picLocks noChangeAspect="1"/>
          </p:cNvPicPr>
          <p:nvPr/>
        </p:nvPicPr>
        <p:blipFill>
          <a:blip r:embed="rId6"/>
          <a:stretch>
            <a:fillRect/>
          </a:stretch>
        </p:blipFill>
        <p:spPr>
          <a:xfrm>
            <a:off x="5032653" y="2413516"/>
            <a:ext cx="4564975" cy="4564975"/>
          </a:xfrm>
          <a:prstGeom prst="rect">
            <a:avLst/>
          </a:prstGeom>
        </p:spPr>
      </p:pic>
      <p:sp>
        <p:nvSpPr>
          <p:cNvPr id="18" name="Text 12"/>
          <p:cNvSpPr/>
          <p:nvPr/>
        </p:nvSpPr>
        <p:spPr>
          <a:xfrm>
            <a:off x="5838230" y="5402461"/>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4</a:t>
            </a:r>
            <a:endParaRPr lang="en-US" sz="2650" dirty="0"/>
          </a:p>
        </p:txBody>
      </p:sp>
      <p:sp>
        <p:nvSpPr>
          <p:cNvPr id="19" name="Rectangle 18"/>
          <p:cNvSpPr/>
          <p:nvPr/>
        </p:nvSpPr>
        <p:spPr>
          <a:xfrm>
            <a:off x="12801838" y="7714593"/>
            <a:ext cx="1828562" cy="420414"/>
          </a:xfrm>
          <a:prstGeom prst="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34628"/>
            <a:ext cx="9438442"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Cybercrime </a:t>
            </a:r>
            <a:r>
              <a:rPr lang="en-US" sz="4450" dirty="0">
                <a:solidFill>
                  <a:schemeClr val="accent5"/>
                </a:solidFill>
                <a:latin typeface="Roboto Slab" pitchFamily="34" charset="0"/>
                <a:ea typeface="Roboto Slab" pitchFamily="34" charset="-122"/>
                <a:cs typeface="Roboto Slab" pitchFamily="34" charset="-120"/>
              </a:rPr>
              <a:t>Prevention</a:t>
            </a:r>
            <a:r>
              <a:rPr lang="en-US" sz="4450" dirty="0">
                <a:solidFill>
                  <a:srgbClr val="76B9FF"/>
                </a:solidFill>
                <a:latin typeface="Roboto Slab" pitchFamily="34" charset="0"/>
                <a:ea typeface="Roboto Slab" pitchFamily="34" charset="-122"/>
                <a:cs typeface="Roboto Slab" pitchFamily="34" charset="-120"/>
              </a:rPr>
              <a:t> &amp; Reporting</a:t>
            </a:r>
            <a:endParaRPr lang="en-US" sz="4450" dirty="0"/>
          </a:p>
        </p:txBody>
      </p:sp>
      <p:pic>
        <p:nvPicPr>
          <p:cNvPr id="3" name="Image 0" descr="preencoded.png"/>
          <p:cNvPicPr>
            <a:picLocks noChangeAspect="1"/>
          </p:cNvPicPr>
          <p:nvPr/>
        </p:nvPicPr>
        <p:blipFill>
          <a:blip r:embed="rId3"/>
          <a:stretch>
            <a:fillRect/>
          </a:stretch>
        </p:blipFill>
        <p:spPr>
          <a:xfrm>
            <a:off x="3247430" y="1997035"/>
            <a:ext cx="1614011" cy="1306949"/>
          </a:xfrm>
          <a:prstGeom prst="rect">
            <a:avLst/>
          </a:prstGeom>
        </p:spPr>
      </p:pic>
      <p:sp>
        <p:nvSpPr>
          <p:cNvPr id="4" name="Text 1"/>
          <p:cNvSpPr/>
          <p:nvPr/>
        </p:nvSpPr>
        <p:spPr>
          <a:xfrm>
            <a:off x="3894892" y="2613065"/>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1</a:t>
            </a:r>
            <a:endParaRPr lang="en-US" sz="2500" dirty="0"/>
          </a:p>
        </p:txBody>
      </p:sp>
      <p:sp>
        <p:nvSpPr>
          <p:cNvPr id="5" name="Text 2"/>
          <p:cNvSpPr/>
          <p:nvPr/>
        </p:nvSpPr>
        <p:spPr>
          <a:xfrm>
            <a:off x="5088255" y="222384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Strong Passwords</a:t>
            </a:r>
            <a:endParaRPr lang="en-US" sz="2200" dirty="0"/>
          </a:p>
        </p:txBody>
      </p:sp>
      <p:sp>
        <p:nvSpPr>
          <p:cNvPr id="6" name="Text 3"/>
          <p:cNvSpPr/>
          <p:nvPr/>
        </p:nvSpPr>
        <p:spPr>
          <a:xfrm>
            <a:off x="5088255" y="2714268"/>
            <a:ext cx="3280767"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Use unique passwords and MFA.</a:t>
            </a:r>
            <a:endParaRPr lang="en-US" sz="1750" dirty="0"/>
          </a:p>
        </p:txBody>
      </p:sp>
      <p:sp>
        <p:nvSpPr>
          <p:cNvPr id="7" name="Shape 4"/>
          <p:cNvSpPr/>
          <p:nvPr/>
        </p:nvSpPr>
        <p:spPr>
          <a:xfrm>
            <a:off x="4918115" y="3317081"/>
            <a:ext cx="8861822" cy="15240"/>
          </a:xfrm>
          <a:prstGeom prst="roundRect">
            <a:avLst>
              <a:gd name="adj" fmla="val 223256"/>
            </a:avLst>
          </a:prstGeom>
          <a:solidFill>
            <a:srgbClr val="585F6B"/>
          </a:solidFill>
          <a:ln/>
        </p:spPr>
      </p:sp>
      <p:pic>
        <p:nvPicPr>
          <p:cNvPr id="8" name="Image 1" descr="preencoded.png"/>
          <p:cNvPicPr>
            <a:picLocks noChangeAspect="1"/>
          </p:cNvPicPr>
          <p:nvPr/>
        </p:nvPicPr>
        <p:blipFill>
          <a:blip r:embed="rId4"/>
          <a:stretch>
            <a:fillRect/>
          </a:stretch>
        </p:blipFill>
        <p:spPr>
          <a:xfrm>
            <a:off x="2440424" y="3360658"/>
            <a:ext cx="3228022" cy="1306949"/>
          </a:xfrm>
          <a:prstGeom prst="rect">
            <a:avLst/>
          </a:prstGeom>
        </p:spPr>
      </p:pic>
      <p:sp>
        <p:nvSpPr>
          <p:cNvPr id="9" name="Text 5"/>
          <p:cNvSpPr/>
          <p:nvPr/>
        </p:nvSpPr>
        <p:spPr>
          <a:xfrm>
            <a:off x="3894892" y="3814762"/>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2</a:t>
            </a:r>
            <a:endParaRPr lang="en-US" sz="2500" dirty="0"/>
          </a:p>
        </p:txBody>
      </p:sp>
      <p:sp>
        <p:nvSpPr>
          <p:cNvPr id="10" name="Text 6"/>
          <p:cNvSpPr/>
          <p:nvPr/>
        </p:nvSpPr>
        <p:spPr>
          <a:xfrm>
            <a:off x="5895261" y="358747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Software Updates</a:t>
            </a:r>
            <a:endParaRPr lang="en-US" sz="2200" dirty="0"/>
          </a:p>
        </p:txBody>
      </p:sp>
      <p:sp>
        <p:nvSpPr>
          <p:cNvPr id="11" name="Text 7"/>
          <p:cNvSpPr/>
          <p:nvPr/>
        </p:nvSpPr>
        <p:spPr>
          <a:xfrm>
            <a:off x="5895261" y="4077891"/>
            <a:ext cx="4038005"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Regularly update software and antivirus.</a:t>
            </a:r>
            <a:endParaRPr lang="en-US" sz="1750" dirty="0"/>
          </a:p>
        </p:txBody>
      </p:sp>
      <p:sp>
        <p:nvSpPr>
          <p:cNvPr id="12" name="Shape 8"/>
          <p:cNvSpPr/>
          <p:nvPr/>
        </p:nvSpPr>
        <p:spPr>
          <a:xfrm>
            <a:off x="5725120" y="4680704"/>
            <a:ext cx="8054816" cy="15240"/>
          </a:xfrm>
          <a:prstGeom prst="roundRect">
            <a:avLst>
              <a:gd name="adj" fmla="val 223256"/>
            </a:avLst>
          </a:prstGeom>
          <a:solidFill>
            <a:srgbClr val="585F6B"/>
          </a:solidFill>
          <a:ln/>
        </p:spPr>
      </p:sp>
      <p:pic>
        <p:nvPicPr>
          <p:cNvPr id="13" name="Image 2" descr="preencoded.png"/>
          <p:cNvPicPr>
            <a:picLocks noChangeAspect="1"/>
          </p:cNvPicPr>
          <p:nvPr/>
        </p:nvPicPr>
        <p:blipFill>
          <a:blip r:embed="rId5"/>
          <a:stretch>
            <a:fillRect/>
          </a:stretch>
        </p:blipFill>
        <p:spPr>
          <a:xfrm>
            <a:off x="1633418" y="4724281"/>
            <a:ext cx="4842034" cy="1306949"/>
          </a:xfrm>
          <a:prstGeom prst="rect">
            <a:avLst/>
          </a:prstGeom>
        </p:spPr>
      </p:pic>
      <p:sp>
        <p:nvSpPr>
          <p:cNvPr id="14" name="Text 9"/>
          <p:cNvSpPr/>
          <p:nvPr/>
        </p:nvSpPr>
        <p:spPr>
          <a:xfrm>
            <a:off x="3894892" y="5178385"/>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3</a:t>
            </a:r>
            <a:endParaRPr lang="en-US" sz="2500" dirty="0"/>
          </a:p>
        </p:txBody>
      </p:sp>
      <p:sp>
        <p:nvSpPr>
          <p:cNvPr id="15" name="Text 10"/>
          <p:cNvSpPr/>
          <p:nvPr/>
        </p:nvSpPr>
        <p:spPr>
          <a:xfrm>
            <a:off x="6702266" y="495109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Education</a:t>
            </a:r>
            <a:endParaRPr lang="en-US" sz="2200" dirty="0"/>
          </a:p>
        </p:txBody>
      </p:sp>
      <p:sp>
        <p:nvSpPr>
          <p:cNvPr id="16" name="Text 11"/>
          <p:cNvSpPr/>
          <p:nvPr/>
        </p:nvSpPr>
        <p:spPr>
          <a:xfrm>
            <a:off x="6702266" y="5441513"/>
            <a:ext cx="358759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Educate about phishing and scams.</a:t>
            </a:r>
            <a:endParaRPr lang="en-US" sz="1750" dirty="0"/>
          </a:p>
        </p:txBody>
      </p:sp>
      <p:sp>
        <p:nvSpPr>
          <p:cNvPr id="17" name="Shape 12"/>
          <p:cNvSpPr/>
          <p:nvPr/>
        </p:nvSpPr>
        <p:spPr>
          <a:xfrm>
            <a:off x="6532126" y="6044327"/>
            <a:ext cx="7247811" cy="15240"/>
          </a:xfrm>
          <a:prstGeom prst="roundRect">
            <a:avLst>
              <a:gd name="adj" fmla="val 223256"/>
            </a:avLst>
          </a:prstGeom>
          <a:solidFill>
            <a:srgbClr val="585F6B"/>
          </a:solidFill>
          <a:ln/>
        </p:spPr>
      </p:sp>
      <p:pic>
        <p:nvPicPr>
          <p:cNvPr id="18" name="Image 3" descr="preencoded.png"/>
          <p:cNvPicPr>
            <a:picLocks noChangeAspect="1"/>
          </p:cNvPicPr>
          <p:nvPr/>
        </p:nvPicPr>
        <p:blipFill>
          <a:blip r:embed="rId6"/>
          <a:stretch>
            <a:fillRect/>
          </a:stretch>
        </p:blipFill>
        <p:spPr>
          <a:xfrm>
            <a:off x="826294" y="6087904"/>
            <a:ext cx="6456164" cy="1306949"/>
          </a:xfrm>
          <a:prstGeom prst="rect">
            <a:avLst/>
          </a:prstGeom>
        </p:spPr>
      </p:pic>
      <p:sp>
        <p:nvSpPr>
          <p:cNvPr id="19" name="Text 13"/>
          <p:cNvSpPr/>
          <p:nvPr/>
        </p:nvSpPr>
        <p:spPr>
          <a:xfrm>
            <a:off x="3894773" y="6542008"/>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4</a:t>
            </a:r>
            <a:endParaRPr lang="en-US" sz="2500" dirty="0"/>
          </a:p>
        </p:txBody>
      </p:sp>
      <p:sp>
        <p:nvSpPr>
          <p:cNvPr id="20" name="Text 14"/>
          <p:cNvSpPr/>
          <p:nvPr/>
        </p:nvSpPr>
        <p:spPr>
          <a:xfrm>
            <a:off x="7509272" y="63147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Report Incidents</a:t>
            </a:r>
            <a:endParaRPr lang="en-US" sz="2200" dirty="0"/>
          </a:p>
        </p:txBody>
      </p:sp>
      <p:sp>
        <p:nvSpPr>
          <p:cNvPr id="21" name="Text 15"/>
          <p:cNvSpPr/>
          <p:nvPr/>
        </p:nvSpPr>
        <p:spPr>
          <a:xfrm>
            <a:off x="7509272" y="6805136"/>
            <a:ext cx="3711773"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Report incidents to law enforcement.</a:t>
            </a:r>
            <a:endParaRPr lang="en-US" sz="1750" dirty="0"/>
          </a:p>
        </p:txBody>
      </p:sp>
      <p:sp>
        <p:nvSpPr>
          <p:cNvPr id="22" name="Snip Diagonal Corner Rectangle 21"/>
          <p:cNvSpPr/>
          <p:nvPr/>
        </p:nvSpPr>
        <p:spPr>
          <a:xfrm>
            <a:off x="12833131" y="7746124"/>
            <a:ext cx="1797269" cy="483476"/>
          </a:xfrm>
          <a:prstGeom prst="snip2Diag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3961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Future Trends in Cybercrime</a:t>
            </a:r>
            <a:endParaRPr lang="en-US" sz="4450" dirty="0"/>
          </a:p>
        </p:txBody>
      </p:sp>
      <p:sp>
        <p:nvSpPr>
          <p:cNvPr id="4" name="Shape 1"/>
          <p:cNvSpPr/>
          <p:nvPr/>
        </p:nvSpPr>
        <p:spPr>
          <a:xfrm>
            <a:off x="1048941" y="2497336"/>
            <a:ext cx="30480" cy="4374475"/>
          </a:xfrm>
          <a:prstGeom prst="roundRect">
            <a:avLst>
              <a:gd name="adj" fmla="val 111628"/>
            </a:avLst>
          </a:prstGeom>
          <a:solidFill>
            <a:srgbClr val="585F6B"/>
          </a:solidFill>
          <a:ln/>
        </p:spPr>
      </p:sp>
      <p:sp>
        <p:nvSpPr>
          <p:cNvPr id="5" name="Shape 2"/>
          <p:cNvSpPr/>
          <p:nvPr/>
        </p:nvSpPr>
        <p:spPr>
          <a:xfrm>
            <a:off x="1273612" y="2992398"/>
            <a:ext cx="680442" cy="30480"/>
          </a:xfrm>
          <a:prstGeom prst="roundRect">
            <a:avLst>
              <a:gd name="adj" fmla="val 111628"/>
            </a:avLst>
          </a:prstGeom>
          <a:solidFill>
            <a:srgbClr val="585F6B"/>
          </a:solidFill>
          <a:ln/>
        </p:spPr>
      </p:sp>
      <p:sp>
        <p:nvSpPr>
          <p:cNvPr id="6" name="Shape 3"/>
          <p:cNvSpPr/>
          <p:nvPr/>
        </p:nvSpPr>
        <p:spPr>
          <a:xfrm>
            <a:off x="793790" y="2752487"/>
            <a:ext cx="510302" cy="510302"/>
          </a:xfrm>
          <a:prstGeom prst="roundRect">
            <a:avLst>
              <a:gd name="adj" fmla="val 6667"/>
            </a:avLst>
          </a:prstGeom>
          <a:solidFill>
            <a:srgbClr val="3F4652"/>
          </a:solidFill>
          <a:ln/>
        </p:spPr>
      </p:sp>
      <p:pic>
        <p:nvPicPr>
          <p:cNvPr id="7" name="Image 1" descr="preencoded.png"/>
          <p:cNvPicPr>
            <a:picLocks noChangeAspect="1"/>
          </p:cNvPicPr>
          <p:nvPr/>
        </p:nvPicPr>
        <p:blipFill>
          <a:blip r:embed="rId4"/>
          <a:stretch>
            <a:fillRect/>
          </a:stretch>
        </p:blipFill>
        <p:spPr>
          <a:xfrm>
            <a:off x="878860" y="2794992"/>
            <a:ext cx="340162" cy="425291"/>
          </a:xfrm>
          <a:prstGeom prst="rect">
            <a:avLst/>
          </a:prstGeom>
        </p:spPr>
      </p:pic>
      <p:sp>
        <p:nvSpPr>
          <p:cNvPr id="8" name="Text 4"/>
          <p:cNvSpPr/>
          <p:nvPr/>
        </p:nvSpPr>
        <p:spPr>
          <a:xfrm>
            <a:off x="2183011" y="272415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AI Attacks</a:t>
            </a:r>
            <a:endParaRPr lang="en-US" sz="2200" dirty="0"/>
          </a:p>
        </p:txBody>
      </p:sp>
      <p:sp>
        <p:nvSpPr>
          <p:cNvPr id="9" name="Text 5"/>
          <p:cNvSpPr/>
          <p:nvPr/>
        </p:nvSpPr>
        <p:spPr>
          <a:xfrm>
            <a:off x="2183011" y="3214568"/>
            <a:ext cx="6167199"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Sophisticated phishing, malware</a:t>
            </a:r>
            <a:endParaRPr lang="en-US" sz="1750" dirty="0"/>
          </a:p>
        </p:txBody>
      </p:sp>
      <p:sp>
        <p:nvSpPr>
          <p:cNvPr id="10" name="Shape 6"/>
          <p:cNvSpPr/>
          <p:nvPr/>
        </p:nvSpPr>
        <p:spPr>
          <a:xfrm>
            <a:off x="1273612" y="4526161"/>
            <a:ext cx="680442" cy="30480"/>
          </a:xfrm>
          <a:prstGeom prst="roundRect">
            <a:avLst>
              <a:gd name="adj" fmla="val 111628"/>
            </a:avLst>
          </a:prstGeom>
          <a:solidFill>
            <a:srgbClr val="585F6B"/>
          </a:solidFill>
          <a:ln/>
        </p:spPr>
      </p:sp>
      <p:sp>
        <p:nvSpPr>
          <p:cNvPr id="11" name="Shape 7"/>
          <p:cNvSpPr/>
          <p:nvPr/>
        </p:nvSpPr>
        <p:spPr>
          <a:xfrm>
            <a:off x="793790" y="4286250"/>
            <a:ext cx="510302" cy="510302"/>
          </a:xfrm>
          <a:prstGeom prst="roundRect">
            <a:avLst>
              <a:gd name="adj" fmla="val 6667"/>
            </a:avLst>
          </a:prstGeom>
          <a:solidFill>
            <a:srgbClr val="3F4652"/>
          </a:solidFill>
          <a:ln/>
        </p:spPr>
      </p:sp>
      <p:pic>
        <p:nvPicPr>
          <p:cNvPr id="12" name="Image 2" descr="preencoded.png"/>
          <p:cNvPicPr>
            <a:picLocks noChangeAspect="1"/>
          </p:cNvPicPr>
          <p:nvPr/>
        </p:nvPicPr>
        <p:blipFill>
          <a:blip r:embed="rId5"/>
          <a:stretch>
            <a:fillRect/>
          </a:stretch>
        </p:blipFill>
        <p:spPr>
          <a:xfrm>
            <a:off x="878860" y="4328755"/>
            <a:ext cx="340162" cy="425291"/>
          </a:xfrm>
          <a:prstGeom prst="rect">
            <a:avLst/>
          </a:prstGeom>
        </p:spPr>
      </p:pic>
      <p:sp>
        <p:nvSpPr>
          <p:cNvPr id="13" name="Text 8"/>
          <p:cNvSpPr/>
          <p:nvPr/>
        </p:nvSpPr>
        <p:spPr>
          <a:xfrm>
            <a:off x="2183011" y="42579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IoT Vulnerabilities</a:t>
            </a:r>
            <a:endParaRPr lang="en-US" sz="2200" dirty="0"/>
          </a:p>
        </p:txBody>
      </p:sp>
      <p:sp>
        <p:nvSpPr>
          <p:cNvPr id="14" name="Text 9"/>
          <p:cNvSpPr/>
          <p:nvPr/>
        </p:nvSpPr>
        <p:spPr>
          <a:xfrm>
            <a:off x="2183011" y="4748332"/>
            <a:ext cx="6167199"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Increased attack surface</a:t>
            </a:r>
            <a:endParaRPr lang="en-US" sz="1750" dirty="0"/>
          </a:p>
        </p:txBody>
      </p:sp>
      <p:sp>
        <p:nvSpPr>
          <p:cNvPr id="15" name="Shape 10"/>
          <p:cNvSpPr/>
          <p:nvPr/>
        </p:nvSpPr>
        <p:spPr>
          <a:xfrm>
            <a:off x="1273612" y="6059924"/>
            <a:ext cx="680442" cy="30480"/>
          </a:xfrm>
          <a:prstGeom prst="roundRect">
            <a:avLst>
              <a:gd name="adj" fmla="val 111628"/>
            </a:avLst>
          </a:prstGeom>
          <a:solidFill>
            <a:srgbClr val="585F6B"/>
          </a:solidFill>
          <a:ln/>
        </p:spPr>
      </p:sp>
      <p:sp>
        <p:nvSpPr>
          <p:cNvPr id="16" name="Shape 11"/>
          <p:cNvSpPr/>
          <p:nvPr/>
        </p:nvSpPr>
        <p:spPr>
          <a:xfrm>
            <a:off x="793790" y="5820013"/>
            <a:ext cx="510302" cy="510302"/>
          </a:xfrm>
          <a:prstGeom prst="roundRect">
            <a:avLst>
              <a:gd name="adj" fmla="val 6667"/>
            </a:avLst>
          </a:prstGeom>
          <a:solidFill>
            <a:srgbClr val="3F4652"/>
          </a:solidFill>
          <a:ln/>
        </p:spPr>
      </p:sp>
      <p:pic>
        <p:nvPicPr>
          <p:cNvPr id="17" name="Image 3" descr="preencoded.png"/>
          <p:cNvPicPr>
            <a:picLocks noChangeAspect="1"/>
          </p:cNvPicPr>
          <p:nvPr/>
        </p:nvPicPr>
        <p:blipFill>
          <a:blip r:embed="rId6"/>
          <a:stretch>
            <a:fillRect/>
          </a:stretch>
        </p:blipFill>
        <p:spPr>
          <a:xfrm>
            <a:off x="878860" y="5862518"/>
            <a:ext cx="340162" cy="425291"/>
          </a:xfrm>
          <a:prstGeom prst="rect">
            <a:avLst/>
          </a:prstGeom>
        </p:spPr>
      </p:pic>
      <p:sp>
        <p:nvSpPr>
          <p:cNvPr id="18" name="Text 12"/>
          <p:cNvSpPr/>
          <p:nvPr/>
        </p:nvSpPr>
        <p:spPr>
          <a:xfrm>
            <a:off x="2183011" y="579167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Cryptocurrency</a:t>
            </a:r>
            <a:endParaRPr lang="en-US" sz="2200" dirty="0"/>
          </a:p>
        </p:txBody>
      </p:sp>
      <p:sp>
        <p:nvSpPr>
          <p:cNvPr id="19" name="Text 13"/>
          <p:cNvSpPr/>
          <p:nvPr/>
        </p:nvSpPr>
        <p:spPr>
          <a:xfrm>
            <a:off x="2183011" y="6282095"/>
            <a:ext cx="6167199"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Facilitates illicit transactions</a:t>
            </a:r>
            <a:endParaRPr lang="en-US" sz="1750" dirty="0"/>
          </a:p>
        </p:txBody>
      </p:sp>
      <p:sp>
        <p:nvSpPr>
          <p:cNvPr id="20" name="Text 14"/>
          <p:cNvSpPr/>
          <p:nvPr/>
        </p:nvSpPr>
        <p:spPr>
          <a:xfrm>
            <a:off x="793790" y="7126962"/>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Focus on prevention, education, and international collaboration.</a:t>
            </a:r>
            <a:endParaRPr lang="en-US" sz="175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13240" y="3653135"/>
            <a:ext cx="6603924" cy="1446550"/>
          </a:xfrm>
          <a:prstGeom prst="rect">
            <a:avLst/>
          </a:prstGeom>
          <a:noFill/>
        </p:spPr>
        <p:txBody>
          <a:bodyPr wrap="none" lIns="91440" tIns="45720" rIns="91440" bIns="45720">
            <a:spAutoFit/>
            <a:scene3d>
              <a:camera prst="perspectiveContrastingLeftFacing"/>
              <a:lightRig rig="harsh" dir="t"/>
            </a:scene3d>
            <a:sp3d extrusionH="57150" prstMaterial="matte">
              <a:bevelT w="63500" h="12700" prst="angle"/>
              <a:contourClr>
                <a:schemeClr val="bg1">
                  <a:lumMod val="65000"/>
                </a:schemeClr>
              </a:contourClr>
            </a:sp3d>
          </a:bodyPr>
          <a:lstStyle/>
          <a:p>
            <a:pPr algn="ctr"/>
            <a:r>
              <a:rPr lang="en-US" sz="8800" b="1" dirty="0" smtClean="0">
                <a:ln/>
                <a:solidFill>
                  <a:schemeClr val="accent5"/>
                </a:solidFill>
              </a:rPr>
              <a:t>THANK YOU…</a:t>
            </a:r>
            <a:endParaRPr lang="en-US" sz="8800" b="1" cap="none" spc="0" dirty="0">
              <a:ln/>
              <a:solidFill>
                <a:schemeClr val="accent5"/>
              </a:solidFill>
              <a:effectLst/>
            </a:endParaRPr>
          </a:p>
        </p:txBody>
      </p:sp>
      <p:sp>
        <p:nvSpPr>
          <p:cNvPr id="3" name="Rectangle 2"/>
          <p:cNvSpPr/>
          <p:nvPr/>
        </p:nvSpPr>
        <p:spPr>
          <a:xfrm>
            <a:off x="12749048" y="7651531"/>
            <a:ext cx="1881352" cy="578069"/>
          </a:xfrm>
          <a:prstGeom prst="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267826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TotalTime>
  <Words>563</Words>
  <Application>Microsoft Office PowerPoint</Application>
  <PresentationFormat>Custom</PresentationFormat>
  <Paragraphs>93</Paragraphs>
  <Slides>14</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Roboto Slab</vt:lpstr>
      <vt:lpstr>Roboto</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Basi</cp:lastModifiedBy>
  <cp:revision>12</cp:revision>
  <dcterms:created xsi:type="dcterms:W3CDTF">2025-04-01T15:42:20Z</dcterms:created>
  <dcterms:modified xsi:type="dcterms:W3CDTF">2025-04-10T01:57:25Z</dcterms:modified>
</cp:coreProperties>
</file>